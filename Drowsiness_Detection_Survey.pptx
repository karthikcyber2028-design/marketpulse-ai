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 Survey on State-of-the-Art Drowsiness
Detection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2E86DE"/>
                </a:solidFill>
                <a:latin typeface="Calibri"/>
              </a:rPr>
              <a:t>Systematic review of behavioral, vehicular &amp; physiological detection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8C7D9"/>
                </a:solidFill>
                <a:latin typeface="Calibri"/>
              </a:rPr>
              <a:t>Ramzan, Khan, Awan, Ismail, Ilyas &amp; Mahmood  -  IEEE Access, Vol. 7,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Overview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What this survey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Problem  </a:t>
            </a:r>
            <a:r>
              <a:rPr sz="1500">
                <a:solidFill>
                  <a:srgbClr val="444444"/>
                </a:solidFill>
                <a:latin typeface="Calibri"/>
              </a:rPr>
              <a:t>Drowsiness / fatigue is a major cause of road accidents with serious safety implications.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Goal  </a:t>
            </a:r>
            <a:r>
              <a:rPr sz="1500">
                <a:solidFill>
                  <a:srgbClr val="444444"/>
                </a:solidFill>
                <a:latin typeface="Calibri"/>
              </a:rPr>
              <a:t>Warn drowsy drivers in time to prevent deadly accidents.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Approach  </a:t>
            </a:r>
            <a:r>
              <a:rPr sz="1500">
                <a:solidFill>
                  <a:srgbClr val="444444"/>
                </a:solidFill>
                <a:latin typeface="Calibri"/>
              </a:rPr>
              <a:t>Comprehensive analysis of existing driver drowsiness detection techniques (DDT).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3 categories  </a:t>
            </a:r>
            <a:r>
              <a:rPr sz="1500">
                <a:solidFill>
                  <a:srgbClr val="444444"/>
                </a:solidFill>
                <a:latin typeface="Calibri"/>
              </a:rPr>
              <a:t>Behavioral, vehicular and physiological parameter-based techniques.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Classifiers  </a:t>
            </a:r>
            <a:r>
              <a:rPr sz="1500">
                <a:solidFill>
                  <a:srgbClr val="444444"/>
                </a:solidFill>
                <a:latin typeface="Calibri"/>
              </a:rPr>
              <a:t>Top supervised learning methods: SVM, HMM and CNN.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Output  </a:t>
            </a:r>
            <a:r>
              <a:rPr sz="1500">
                <a:solidFill>
                  <a:srgbClr val="444444"/>
                </a:solidFill>
                <a:latin typeface="Calibri"/>
              </a:rPr>
              <a:t>Pros &amp; cons, comparative study, frameworks and future research directions.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737360"/>
            <a:ext cx="4206240" cy="429768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737360"/>
            <a:ext cx="82296" cy="429768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8745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Key Stats from the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331720"/>
            <a:ext cx="37033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1,020 research papers in primary search
• 105 selected by title
• 74 after abstract screening
• 41 papers as primary study
Sources: IEEE Xplore, ACM, Springer,
Google Scholar, IJCS, MDPI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Why drowsiness detection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NHTSA report  </a:t>
            </a:r>
            <a:r>
              <a:rPr sz="1500">
                <a:solidFill>
                  <a:srgbClr val="444444"/>
                </a:solidFill>
                <a:latin typeface="Calibri"/>
              </a:rPr>
              <a:t>Drowsy driving causes ~100,000 accidents and 1,500+ deaths per year (US).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Causes of fatigue  </a:t>
            </a:r>
            <a:r>
              <a:rPr sz="1500">
                <a:solidFill>
                  <a:srgbClr val="444444"/>
                </a:solidFill>
                <a:latin typeface="Calibri"/>
              </a:rPr>
              <a:t>Lack of sleep, long journeys, restlessness, alcohol, mental pressure, road rage.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Impact  </a:t>
            </a:r>
            <a:r>
              <a:rPr sz="1500">
                <a:solidFill>
                  <a:srgbClr val="444444"/>
                </a:solidFill>
                <a:latin typeface="Calibri"/>
              </a:rPr>
              <a:t>Lack of alertness from the unconscious wake-to-sleep transition leads to serious accidents.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5394960" cy="228600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82296" cy="228600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Embedding automatic fatigue detection systems into vehicles can prevent deadly accidents by continuously analyzing the driver's attention level and alerting before a serious threat arises.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657600"/>
            <a:ext cx="5394960" cy="228600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657600"/>
            <a:ext cx="82296" cy="228600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7947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Why a survey?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5196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Previous transportation systems cannot handle these hazards on roads; a systematic review classifies existing techniques, measures, tools and classification methods to identify research gaps.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Systematic review of drowsiness detection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• Search string  </a:t>
            </a:r>
            <a:r>
              <a:rPr sz="1400">
                <a:solidFill>
                  <a:srgbClr val="444444"/>
                </a:solidFill>
                <a:latin typeface="Calibri"/>
              </a:rPr>
              <a:t>(Drows* OR Fatigu*) AND (Biological* OR Physiological* / Vehicle* / Behavioral* / Classif* / SVM* / CNN* / HMM*).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• Databases  </a:t>
            </a:r>
            <a:r>
              <a:rPr sz="1400">
                <a:solidFill>
                  <a:srgbClr val="444444"/>
                </a:solidFill>
                <a:latin typeface="Calibri"/>
              </a:rPr>
              <a:t>IEEE Xplore, ACM, Springer, Google Scholar, IJCS, MDPI.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• Quality checks  </a:t>
            </a:r>
            <a:r>
              <a:rPr sz="1400">
                <a:solidFill>
                  <a:srgbClr val="444444"/>
                </a:solidFill>
                <a:latin typeface="Calibri"/>
              </a:rPr>
              <a:t>Relevance to the research domain + publication in a well-reputed journal or conference.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737360"/>
            <a:ext cx="4754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737360"/>
            <a:ext cx="82296" cy="420624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87452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Paper Selection Funnel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31720"/>
            <a:ext cx="4251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1,020 papers found
      ↓  title relevance
105 papers
      ↓  abstract screening
74 papers
      ↓  full-text study
41 primary studies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Three Categories of Detection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Main architecture of drowsiness detection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82296" cy="4206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1. Behavioral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Non-invasive camera + computer vision. Uses eye closure ratio (PERCLOS), blinking, head position, facial expressions, yawning.
+ No body contact
- Affected by illumination &amp; road conditions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420624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2. Vehicular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Sensors on steering wheel, accelerator, brake. Uses lane-change patterns, speed variability, steering angle, grip force.
+ No driver instrumentation
- Depends on weather &amp; road geometry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82296" cy="420624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3. Physiological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Monitors heart rate, pulse, breathing, temperature via EEG, ECG, PPG, HRV sensors.
+ Most accurate &amp; reliable
- Invasive; electrodes on the 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Behavioral Parameter-Based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Eye, face &amp; mouth analysis via computer vision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754880"/>
                <a:gridCol w="2103120"/>
              </a:tblGrid>
              <a:tr h="4978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 marT="50800" marB="50800" marL="101600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marT="50800" marB="50800" marL="101600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T="50800" marB="50800" marL="101600">
                    <a:solidFill>
                      <a:srgbClr val="1F3B5C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Eye Tracking + Dynamic Template Matching [3]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HSI face detection, Sobel edge operator for eyes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99.01% accuracy</a:t>
                      </a:r>
                    </a:p>
                  </a:txBody>
                  <a:tcPr marT="50800" marB="50800" marL="101600"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Mouth &amp; Yawning Analysis [4]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Mouth tracking + SVM classification of yawning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Better than geometric features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Facial Expressions [5]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Infrared light, background subtraction, template matching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Works with beard/glasses</a:t>
                      </a:r>
                    </a:p>
                  </a:txBody>
                  <a:tcPr marT="50800" marB="50800" marL="101600"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Yawning Extraction [6]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SVM face region, CHT to find wide-open mouth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98% accuracy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Eye Closure &amp; Head Postures [7]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Viola-Jones + Wavelet network, head inclination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80% accuracy</a:t>
                      </a:r>
                    </a:p>
                  </a:txBody>
                  <a:tcPr marT="50800" marB="50800" marL="101600"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Eye Blink Detection [9]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Cascade classifiers, blink-rate below normal range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90% efficiency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Eye Tracking (PERCLOS) [10]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AdaBoost + Haar features, PERCLOS drowsiness level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Works in all lighting</a:t>
                      </a:r>
                    </a:p>
                  </a:txBody>
                  <a:tcPr marT="50800" marB="50800" marL="101600"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Eye Closeness (Raspberry Pi) [13]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Haar cascade + template matching on Pi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99.59% accuracy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Vehicular Parameter-Based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Detecting fatigue from driving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Real-time lane detection [16]  </a:t>
            </a:r>
            <a:r>
              <a:rPr sz="1500">
                <a:solidFill>
                  <a:srgbClr val="444444"/>
                </a:solidFill>
                <a:latin typeface="Calibri"/>
              </a:rPr>
              <a:t>Hough transform lane detection + Viola-Jones / Otsu / Canny eye detection; works in low light.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Steering angular velocity [17]  </a:t>
            </a:r>
            <a:r>
              <a:rPr sz="1500">
                <a:solidFill>
                  <a:srgbClr val="444444"/>
                </a:solidFill>
                <a:latin typeface="Calibri"/>
              </a:rPr>
              <a:t>Time-series analysis of steering behavior with temporal detection window.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Steering wheel angles (SWA) [18]  </a:t>
            </a:r>
            <a:r>
              <a:rPr sz="1500">
                <a:solidFill>
                  <a:srgbClr val="444444"/>
                </a:solidFill>
                <a:latin typeface="Calibri"/>
              </a:rPr>
              <a:t>Approximate Entropy (ApEn) features + piecewise fitting + warping distance classifier.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SWA + Yaw angles (YA) [19]  </a:t>
            </a:r>
            <a:r>
              <a:rPr sz="1500">
                <a:solidFill>
                  <a:srgbClr val="444444"/>
                </a:solidFill>
                <a:latin typeface="Calibri"/>
              </a:rPr>
              <a:t>ApEn features + 2-6-6-3 back-propagation neural network; 3 fatigue levels.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737360"/>
            <a:ext cx="4023360" cy="429768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737360"/>
            <a:ext cx="82296" cy="429768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7452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31720"/>
            <a:ext cx="352044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A single steering angle sensor under the wheel detects steering reversals (0.5°–5°) during drowsiness.
Limitations:
• Affected by road geometry &amp; weather
• Grip force varies with mood &amp; road type
• Sometimes drowsiness doesn't change driving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Physiological Parameter-Based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Biological signals = highest reliability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754880"/>
                <a:gridCol w="22860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Technique</a:t>
                      </a:r>
                    </a:p>
                  </a:txBody>
                  <a:tcPr marT="50800" marB="50800" marL="101600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Signals / Method</a:t>
                      </a:r>
                    </a:p>
                  </a:txBody>
                  <a:tcPr marT="50800" marB="50800" marL="101600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T="50800" marB="50800" marL="101600">
                    <a:solidFill>
                      <a:srgbClr val="1F3B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EEG-based fatigue detection [20]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Single-electrode EEG, drowsiness-level index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Detects all tiredness levels</a:t>
                      </a:r>
                    </a:p>
                  </a:txBody>
                  <a:tcPr marT="50800" marB="50800" marL="101600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HRV + SVM classifier [21]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Wavelet analysis of heart-rate variability (PPG), ROC + SVM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95% accuracy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Pulse sensor method [22]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Infrared pulse sensor on finger, LF/HF ratio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LF/HF drops when drowsy</a:t>
                      </a:r>
                    </a:p>
                  </a:txBody>
                  <a:tcPr marT="50800" marB="50800" marL="101600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Wearable wrist band [23]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PPG + galvanic skin response, 5 features + SVM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98.02% accuracy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Wireless Bio-harness [24]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ECG, heart rate, posture via wearable biosensor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Mobile app alert</a:t>
                      </a:r>
                    </a:p>
                  </a:txBody>
                  <a:tcPr marT="50800" marB="50800" marL="101600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Driver fatigue system [25]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Somatic sensor: pulse, yawning, eye closure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Multi-stage alerts</a:t>
                      </a:r>
                    </a:p>
                  </a:txBody>
                  <a:tcPr marT="50800" marB="50800" marL="101600">
                    <a:solidFill>
                      <a:srgbClr val="ECF4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ECG + EEG hybrid [26]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Time/frequency domain features, t-test selection, SVM</a:t>
                      </a:r>
                    </a:p>
                  </a:txBody>
                  <a:tcPr marT="50800" marB="50800" marL="101600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80% with channel reduction</a:t>
                      </a:r>
                    </a:p>
                  </a:txBody>
                  <a:tcPr marT="50800" marB="50800" marL="10160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Comparative Study of DDT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Pros, cons &amp; performance under real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82296" cy="4206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Behavioral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Easy, non-intrusive.
Cons:
• Illumination effects
• Reduced performance with sunglasses / mustache
• Reduced in poor lighting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420624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Vehicular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No body contact.
Cons:
• Dependent on weather &amp; road geometry
• Can be unreliable when behavior unchanged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82296" cy="420624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Physiological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Most stable &amp; accurate results.
Cons:
• Intrusive (electrodes on body)
• Reduced accuracy with wireless / less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B5C"/>
                </a:solidFill>
                <a:latin typeface="Calibri"/>
              </a:rPr>
              <a:t>Trend: physiological measures are being made less intrusive via wireless sensors embedded in seats, seat belts, covers and steering wheels.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Hybrid Approaches of DDT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Combining parameters to overcome individual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Idea  </a:t>
            </a:r>
            <a:r>
              <a:rPr sz="1500">
                <a:solidFill>
                  <a:srgbClr val="444444"/>
                </a:solidFill>
                <a:latin typeface="Calibri"/>
              </a:rPr>
              <a:t>Combine physiological, behavioral and vehicular parameters so one technique reduces the limitations of another, increasing overall accuracy.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ECG + EEG fusion [26]  </a:t>
            </a:r>
            <a:r>
              <a:rPr sz="1500">
                <a:solidFill>
                  <a:srgbClr val="444444"/>
                </a:solidFill>
                <a:latin typeface="Calibri"/>
              </a:rPr>
              <a:t>Combining heart (ECG) and brain (EEG) signals improves differentiation of drowsy vs. alert states - better than using either alone.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Data fusion &amp; robustness [31]  </a:t>
            </a:r>
            <a:r>
              <a:rPr sz="1500">
                <a:solidFill>
                  <a:srgbClr val="444444"/>
                </a:solidFill>
                <a:latin typeface="Calibri"/>
              </a:rPr>
              <a:t>Fusing multiple signals makes the system robust to signal loss.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Smartphone-based fusion [29]  </a:t>
            </a:r>
            <a:r>
              <a:rPr sz="1500">
                <a:solidFill>
                  <a:srgbClr val="444444"/>
                </a:solidFill>
                <a:latin typeface="Calibri"/>
              </a:rPr>
              <a:t>Smartphone monitoring with data fusion of multiple sensors.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Multi-modal feasibility [32]  </a:t>
            </a:r>
            <a:r>
              <a:rPr sz="1500">
                <a:solidFill>
                  <a:srgbClr val="444444"/>
                </a:solidFill>
                <a:latin typeface="Calibri"/>
              </a:rPr>
              <a:t>Multi-modal driver drowsiness detection feasibility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Supervised Learning Classifiers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SVM, HMM and CNN - the three most used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82296" cy="4206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Support Vector Machine - supervised learning for classification &amp; regression.
• Most widely used
• Easy to use, fast
• E.g., Haar face detection + SVM eye states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420624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HMM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Hidden Markov Model - statistical model predicting hidden states from observed states.
• Lowest error rate
• Used for facial expressions, gene annotation, eye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82296" cy="420624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Convolutional Neural Network - layers of spatial convolution for images/video.
• Best for image recognition
• Handles changing head pose (3D CNN)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B5C"/>
                </a:solidFill>
                <a:latin typeface="Calibri"/>
              </a:rPr>
              <a:t>Insight: SVM gives good accuracy &amp; speed in most situations but is not suitable for large datasets; CNN &amp; HMM are slower and more expensive to train.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Comparative Study of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Trade-offs between accuracy, speed and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82296" cy="4206240"/>
          </a:xfrm>
          <a:prstGeom prst="rect">
            <a:avLst/>
          </a:prstGeom>
          <a:solidFill>
            <a:srgbClr val="17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HMM has the lowest error rate, i.e., highest accuracy among the three classifiers.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4206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Usability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SVM is easy to use and therefore the most commonly adopted classifier in drowsiness detection 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361188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82296" cy="420624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745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Cost &amp;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1089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CNN and HMM are slow in training and expensive compared to SVM; SVM struggles with very large datasets.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B5C"/>
                </a:solidFill>
                <a:latin typeface="Calibri"/>
              </a:rPr>
              <a:t>Key takeaway: no single classifier fits every situation - choose based on system requirements for accuracy, speed and dataset size.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State-of-the-art in drowsiness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No perfect technique  </a:t>
            </a:r>
            <a:r>
              <a:rPr sz="1500">
                <a:solidFill>
                  <a:srgbClr val="444444"/>
                </a:solidFill>
                <a:latin typeface="Calibri"/>
              </a:rPr>
              <a:t>None of the detection techniques provides full accuracy alone.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Physiological = most accurate  </a:t>
            </a:r>
            <a:r>
              <a:rPr sz="1500">
                <a:solidFill>
                  <a:srgbClr val="444444"/>
                </a:solidFill>
                <a:latin typeface="Calibri"/>
              </a:rPr>
              <a:t>Physiological parameters give the most accurate and stable results across conditions.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Reduce intrusiveness  </a:t>
            </a:r>
            <a:r>
              <a:rPr sz="1500">
                <a:solidFill>
                  <a:srgbClr val="444444"/>
                </a:solidFill>
                <a:latin typeface="Calibri"/>
              </a:rPr>
              <a:t>Wireless sensors on the body, driving seat, seat belt, seat cover and steering wheel make physiological methods less intrusive.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Hybrids win  </a:t>
            </a:r>
            <a:r>
              <a:rPr sz="1500">
                <a:solidFill>
                  <a:srgbClr val="444444"/>
                </a:solidFill>
                <a:latin typeface="Calibri"/>
              </a:rPr>
              <a:t>Combining techniques (e.g., ECG + EEG) improves performance over single methods.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• Classifier choice  </a:t>
            </a:r>
            <a:r>
              <a:rPr sz="1500">
                <a:solidFill>
                  <a:srgbClr val="444444"/>
                </a:solidFill>
                <a:latin typeface="Calibri"/>
              </a:rPr>
              <a:t>HMM is most accurate; SVM is easiest &amp; most common; CNN excels at image-based detection - match the classifier to the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References &amp; 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6DE"/>
                </a:solidFill>
                <a:latin typeface="Calibri"/>
              </a:rPr>
              <a:t>Moving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82296" cy="4206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Key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89204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IEEE Access paper DOI: 10.1109/ACCESS.2019.2914373
Survey of 41 primary studies from IEEE Xplore, ACM, Springer, Google Scholar, IJCS, MDPI covering behavioral, vehicular and physiological techniques (2015-2017 focus).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94960" cy="4206240"/>
          </a:xfrm>
          <a:prstGeom prst="rect">
            <a:avLst/>
          </a:prstGeom>
          <a:solidFill>
            <a:srgbClr val="EC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82296" cy="4206240"/>
          </a:xfrm>
          <a:prstGeom prst="rect">
            <a:avLst/>
          </a:prstGeom>
          <a:solidFill>
            <a:srgbClr val="F0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F3B5C"/>
                </a:solidFill>
                <a:latin typeface="Calibr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89204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• Less-intrusive physiological sensing (wearable + seat embedded)
• Multi-modal / hybrid fusion systems
• Real-time, low-cost embedded deployment
• Robustness to lighting, glasses &amp; road conditions
• Scalable classifiers for large datasets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F3B5C"/>
                </a:solidFill>
                <a:latin typeface="Calibri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4444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