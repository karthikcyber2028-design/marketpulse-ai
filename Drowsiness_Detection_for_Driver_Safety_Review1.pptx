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73152"/>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10362895" cy="1463040"/>
          </a:xfrm>
          <a:prstGeom prst="rect">
            <a:avLst/>
          </a:prstGeom>
          <a:noFill/>
        </p:spPr>
        <p:txBody>
          <a:bodyPr wrap="square" lIns="0" rIns="0" tIns="0" bIns="0">
            <a:spAutoFit/>
          </a:bodyPr>
          <a:lstStyle/>
          <a:p>
            <a:pPr algn="ctr"/>
            <a:r>
              <a:rPr sz="4400" b="1" i="0">
                <a:solidFill>
                  <a:srgbClr val="FFFFFF"/>
                </a:solidFill>
                <a:latin typeface="Calibri"/>
              </a:rPr>
              <a:t>Drowsiness Detection for Driver Safety</a:t>
            </a:r>
          </a:p>
        </p:txBody>
      </p:sp>
      <p:sp>
        <p:nvSpPr>
          <p:cNvPr id="5" name="TextBox 4"/>
          <p:cNvSpPr txBox="1"/>
          <p:nvPr/>
        </p:nvSpPr>
        <p:spPr>
          <a:xfrm>
            <a:off x="914400" y="3108960"/>
            <a:ext cx="10362895" cy="548640"/>
          </a:xfrm>
          <a:prstGeom prst="rect">
            <a:avLst/>
          </a:prstGeom>
          <a:noFill/>
        </p:spPr>
        <p:txBody>
          <a:bodyPr wrap="square" lIns="0" rIns="0" tIns="0" bIns="0">
            <a:spAutoFit/>
          </a:bodyPr>
          <a:lstStyle/>
          <a:p>
            <a:pPr algn="ctr"/>
            <a:r>
              <a:rPr sz="2200" b="0" i="0">
                <a:solidFill>
                  <a:srgbClr val="2E86DE"/>
                </a:solidFill>
                <a:latin typeface="Calibri"/>
              </a:rPr>
              <a:t>First Review (Review 0) - Analysis of Survey Paper</a:t>
            </a:r>
          </a:p>
        </p:txBody>
      </p:sp>
      <p:sp>
        <p:nvSpPr>
          <p:cNvPr id="6" name="TextBox 5"/>
          <p:cNvSpPr txBox="1"/>
          <p:nvPr/>
        </p:nvSpPr>
        <p:spPr>
          <a:xfrm>
            <a:off x="914400" y="3931920"/>
            <a:ext cx="10362895" cy="731520"/>
          </a:xfrm>
          <a:prstGeom prst="rect">
            <a:avLst/>
          </a:prstGeom>
          <a:noFill/>
        </p:spPr>
        <p:txBody>
          <a:bodyPr wrap="square" lIns="0" rIns="0" tIns="0" bIns="0">
            <a:spAutoFit/>
          </a:bodyPr>
          <a:lstStyle/>
          <a:p>
            <a:pPr algn="ctr"/>
            <a:r>
              <a:rPr sz="1700" b="0" i="0">
                <a:solidFill>
                  <a:srgbClr val="B8C7D9"/>
                </a:solidFill>
                <a:latin typeface="Calibri"/>
              </a:rPr>
              <a:t>Paper: "A Survey on State-of-the-Art Drowsiness Detection Techniques"
Ramzan et al., IEEE Access, Vol. 7, 2019</a:t>
            </a:r>
          </a:p>
        </p:txBody>
      </p:sp>
      <p:sp>
        <p:nvSpPr>
          <p:cNvPr id="7" name="TextBox 6"/>
          <p:cNvSpPr txBox="1"/>
          <p:nvPr/>
        </p:nvSpPr>
        <p:spPr>
          <a:xfrm>
            <a:off x="914400" y="5760720"/>
            <a:ext cx="10362895" cy="548640"/>
          </a:xfrm>
          <a:prstGeom prst="rect">
            <a:avLst/>
          </a:prstGeom>
          <a:noFill/>
        </p:spPr>
        <p:txBody>
          <a:bodyPr wrap="square" lIns="0" rIns="0" tIns="0" bIns="0">
            <a:spAutoFit/>
          </a:bodyPr>
          <a:lstStyle/>
          <a:p>
            <a:pPr algn="ctr"/>
            <a:r>
              <a:rPr sz="1600" b="0" i="0">
                <a:solidFill>
                  <a:srgbClr val="B8C7D9"/>
                </a:solidFill>
                <a:latin typeface="Calibri"/>
              </a:rPr>
              <a:t>Presented by: [Student Name]   |   Guide: [Guide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Presentation Outline</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Agenda for Review 1</a:t>
            </a:r>
          </a:p>
        </p:txBody>
      </p:sp>
      <p:sp>
        <p:nvSpPr>
          <p:cNvPr id="6" name="TextBox 5"/>
          <p:cNvSpPr txBox="1"/>
          <p:nvPr/>
        </p:nvSpPr>
        <p:spPr>
          <a:xfrm>
            <a:off x="548640" y="1645920"/>
            <a:ext cx="11064240" cy="4754880"/>
          </a:xfrm>
          <a:prstGeom prst="rect">
            <a:avLst/>
          </a:prstGeom>
          <a:noFill/>
        </p:spPr>
        <p:txBody>
          <a:bodyPr wrap="square">
            <a:spAutoFit/>
          </a:bodyPr>
          <a:lstStyle/>
          <a:p>
            <a:pPr>
              <a:spcAft>
                <a:spcPts val="1000"/>
              </a:spcAft>
            </a:pPr>
            <a:r>
              <a:rPr sz="2000" b="1">
                <a:solidFill>
                  <a:srgbClr val="2E86DE"/>
                </a:solidFill>
                <a:latin typeface="Calibri"/>
              </a:rPr>
              <a:t>1.  </a:t>
            </a:r>
            <a:r>
              <a:rPr sz="2000">
                <a:solidFill>
                  <a:srgbClr val="444444"/>
                </a:solidFill>
                <a:latin typeface="Calibri"/>
              </a:rPr>
              <a:t>Introduction &amp; Problem Statement</a:t>
            </a:r>
          </a:p>
          <a:p>
            <a:pPr>
              <a:spcAft>
                <a:spcPts val="1000"/>
              </a:spcAft>
            </a:pPr>
            <a:r>
              <a:rPr sz="2000" b="1">
                <a:solidFill>
                  <a:srgbClr val="2E86DE"/>
                </a:solidFill>
                <a:latin typeface="Calibri"/>
              </a:rPr>
              <a:t>2.  </a:t>
            </a:r>
            <a:r>
              <a:rPr sz="2000">
                <a:solidFill>
                  <a:srgbClr val="444444"/>
                </a:solidFill>
                <a:latin typeface="Calibri"/>
              </a:rPr>
              <a:t>Objectives of the Study</a:t>
            </a:r>
          </a:p>
          <a:p>
            <a:pPr>
              <a:spcAft>
                <a:spcPts val="1000"/>
              </a:spcAft>
            </a:pPr>
            <a:r>
              <a:rPr sz="2000" b="1">
                <a:solidFill>
                  <a:srgbClr val="2E86DE"/>
                </a:solidFill>
                <a:latin typeface="Calibri"/>
              </a:rPr>
              <a:t>3.  </a:t>
            </a:r>
            <a:r>
              <a:rPr sz="2000">
                <a:solidFill>
                  <a:srgbClr val="444444"/>
                </a:solidFill>
                <a:latin typeface="Calibri"/>
              </a:rPr>
              <a:t>Literature Review - Survey of Drowsiness Detection</a:t>
            </a:r>
          </a:p>
          <a:p>
            <a:pPr>
              <a:spcAft>
                <a:spcPts val="1000"/>
              </a:spcAft>
            </a:pPr>
            <a:r>
              <a:rPr sz="2000" b="1">
                <a:solidFill>
                  <a:srgbClr val="2E86DE"/>
                </a:solidFill>
                <a:latin typeface="Calibri"/>
              </a:rPr>
              <a:t>4.  </a:t>
            </a:r>
            <a:r>
              <a:rPr sz="2000">
                <a:solidFill>
                  <a:srgbClr val="444444"/>
                </a:solidFill>
                <a:latin typeface="Calibri"/>
              </a:rPr>
              <a:t>Detection Techniques: Behavioral / Vehicular / Physiological</a:t>
            </a:r>
          </a:p>
          <a:p>
            <a:pPr>
              <a:spcAft>
                <a:spcPts val="1000"/>
              </a:spcAft>
            </a:pPr>
            <a:r>
              <a:rPr sz="2000" b="1">
                <a:solidFill>
                  <a:srgbClr val="2E86DE"/>
                </a:solidFill>
                <a:latin typeface="Calibri"/>
              </a:rPr>
              <a:t>5.  </a:t>
            </a:r>
            <a:r>
              <a:rPr sz="2000">
                <a:solidFill>
                  <a:srgbClr val="444444"/>
                </a:solidFill>
                <a:latin typeface="Calibri"/>
              </a:rPr>
              <a:t>Comparative Analysis &amp; Classification Methods</a:t>
            </a:r>
          </a:p>
          <a:p>
            <a:pPr>
              <a:spcAft>
                <a:spcPts val="1000"/>
              </a:spcAft>
            </a:pPr>
            <a:r>
              <a:rPr sz="2000" b="1">
                <a:solidFill>
                  <a:srgbClr val="2E86DE"/>
                </a:solidFill>
                <a:latin typeface="Calibri"/>
              </a:rPr>
              <a:t>6.  </a:t>
            </a:r>
            <a:r>
              <a:rPr sz="2000">
                <a:solidFill>
                  <a:srgbClr val="444444"/>
                </a:solidFill>
                <a:latin typeface="Calibri"/>
              </a:rPr>
              <a:t>Research Gaps Identified</a:t>
            </a:r>
          </a:p>
          <a:p>
            <a:pPr>
              <a:spcAft>
                <a:spcPts val="1000"/>
              </a:spcAft>
            </a:pPr>
            <a:r>
              <a:rPr sz="2000" b="1">
                <a:solidFill>
                  <a:srgbClr val="2E86DE"/>
                </a:solidFill>
                <a:latin typeface="Calibri"/>
              </a:rPr>
              <a:t>7.  </a:t>
            </a:r>
            <a:r>
              <a:rPr sz="2000">
                <a:solidFill>
                  <a:srgbClr val="444444"/>
                </a:solidFill>
                <a:latin typeface="Calibri"/>
              </a:rPr>
              <a:t>Proposed Work &amp; Methodology</a:t>
            </a:r>
          </a:p>
          <a:p>
            <a:pPr>
              <a:spcAft>
                <a:spcPts val="1000"/>
              </a:spcAft>
            </a:pPr>
            <a:r>
              <a:rPr sz="2000" b="1">
                <a:solidFill>
                  <a:srgbClr val="2E86DE"/>
                </a:solidFill>
                <a:latin typeface="Calibri"/>
              </a:rPr>
              <a:t>8.  </a:t>
            </a:r>
            <a:r>
              <a:rPr sz="2000">
                <a:solidFill>
                  <a:srgbClr val="444444"/>
                </a:solidFill>
                <a:latin typeface="Calibri"/>
              </a:rPr>
              <a:t>Expected Outcomes &amp; Plan of Work</a:t>
            </a:r>
          </a:p>
          <a:p>
            <a:pPr>
              <a:spcAft>
                <a:spcPts val="1000"/>
              </a:spcAft>
            </a:pPr>
            <a:r>
              <a:rPr sz="2000" b="1">
                <a:solidFill>
                  <a:srgbClr val="2E86DE"/>
                </a:solidFill>
                <a:latin typeface="Calibri"/>
              </a:rPr>
              <a:t>9.  </a:t>
            </a:r>
            <a:r>
              <a:rPr sz="2000">
                <a:solidFill>
                  <a:srgbClr val="444444"/>
                </a:solidFill>
                <a:latin typeface="Calibri"/>
              </a:rPr>
              <a:t>Conclusion &amp; References</a:t>
            </a:r>
          </a:p>
        </p:txBody>
      </p:sp>
      <p:sp>
        <p:nvSpPr>
          <p:cNvPr id="7" name="TextBox 6"/>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Introduction &amp; Problem Statement</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Why driver drowsiness detection matters</a:t>
            </a:r>
          </a:p>
        </p:txBody>
      </p:sp>
      <p:sp>
        <p:nvSpPr>
          <p:cNvPr id="6" name="Rectangle 5"/>
          <p:cNvSpPr/>
          <p:nvPr/>
        </p:nvSpPr>
        <p:spPr>
          <a:xfrm>
            <a:off x="54864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82296" cy="41148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4892040" cy="457200"/>
          </a:xfrm>
          <a:prstGeom prst="rect">
            <a:avLst/>
          </a:prstGeom>
          <a:noFill/>
        </p:spPr>
        <p:txBody>
          <a:bodyPr wrap="square" lIns="0" rIns="0" tIns="0" bIns="0">
            <a:spAutoFit/>
          </a:bodyPr>
          <a:lstStyle/>
          <a:p>
            <a:pPr algn="l"/>
            <a:r>
              <a:rPr sz="1800" b="1" i="0">
                <a:solidFill>
                  <a:srgbClr val="1F3B5C"/>
                </a:solidFill>
                <a:latin typeface="Calibri"/>
              </a:rPr>
              <a:t>Introduction</a:t>
            </a:r>
          </a:p>
        </p:txBody>
      </p:sp>
      <p:sp>
        <p:nvSpPr>
          <p:cNvPr id="9" name="TextBox 8"/>
          <p:cNvSpPr txBox="1"/>
          <p:nvPr/>
        </p:nvSpPr>
        <p:spPr>
          <a:xfrm>
            <a:off x="822960" y="2331720"/>
            <a:ext cx="4892040" cy="3337560"/>
          </a:xfrm>
          <a:prstGeom prst="rect">
            <a:avLst/>
          </a:prstGeom>
          <a:noFill/>
        </p:spPr>
        <p:txBody>
          <a:bodyPr wrap="square" lIns="0" rIns="0" tIns="0" bIns="0">
            <a:spAutoFit/>
          </a:bodyPr>
          <a:lstStyle/>
          <a:p>
            <a:pPr algn="l"/>
            <a:r>
              <a:rPr sz="1300" b="0" i="0">
                <a:solidFill>
                  <a:srgbClr val="444444"/>
                </a:solidFill>
                <a:latin typeface="Calibri"/>
              </a:rPr>
              <a:t>Drowsiness / fatigue is a major cause of road accidents. A continuous unconscious transition from wakefulness to sleep degrades driving performance and alertness.
• NHTSA: ~100,000 accidents and 1,500+ deaths per year (US)
• Drowsy drivers can be warned if detected in time
• Modern vehicles can embed automatic fatigue detection systems</a:t>
            </a:r>
          </a:p>
        </p:txBody>
      </p:sp>
      <p:sp>
        <p:nvSpPr>
          <p:cNvPr id="10" name="Rectangle 9"/>
          <p:cNvSpPr/>
          <p:nvPr/>
        </p:nvSpPr>
        <p:spPr>
          <a:xfrm>
            <a:off x="621792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37360"/>
            <a:ext cx="82296" cy="4114800"/>
          </a:xfrm>
          <a:prstGeom prst="rect">
            <a:avLst/>
          </a:prstGeom>
          <a:solidFill>
            <a:srgbClr val="F0A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20"/>
            <a:ext cx="4892040" cy="457200"/>
          </a:xfrm>
          <a:prstGeom prst="rect">
            <a:avLst/>
          </a:prstGeom>
          <a:noFill/>
        </p:spPr>
        <p:txBody>
          <a:bodyPr wrap="square" lIns="0" rIns="0" tIns="0" bIns="0">
            <a:spAutoFit/>
          </a:bodyPr>
          <a:lstStyle/>
          <a:p>
            <a:pPr algn="l"/>
            <a:r>
              <a:rPr sz="1800" b="1" i="0">
                <a:solidFill>
                  <a:srgbClr val="1F3B5C"/>
                </a:solidFill>
                <a:latin typeface="Calibri"/>
              </a:rPr>
              <a:t>Problem Statement</a:t>
            </a:r>
          </a:p>
        </p:txBody>
      </p:sp>
      <p:sp>
        <p:nvSpPr>
          <p:cNvPr id="13" name="TextBox 12"/>
          <p:cNvSpPr txBox="1"/>
          <p:nvPr/>
        </p:nvSpPr>
        <p:spPr>
          <a:xfrm>
            <a:off x="6492240" y="2331720"/>
            <a:ext cx="4892040" cy="3337560"/>
          </a:xfrm>
          <a:prstGeom prst="rect">
            <a:avLst/>
          </a:prstGeom>
          <a:noFill/>
        </p:spPr>
        <p:txBody>
          <a:bodyPr wrap="square" lIns="0" rIns="0" tIns="0" bIns="0">
            <a:spAutoFit/>
          </a:bodyPr>
          <a:lstStyle/>
          <a:p>
            <a:pPr algn="l"/>
            <a:r>
              <a:rPr sz="1300" b="0" i="0">
                <a:solidFill>
                  <a:srgbClr val="444444"/>
                </a:solidFill>
                <a:latin typeface="Calibri"/>
              </a:rPr>
              <a:t>Multiple detection techniques exist, each with benefits and limitations. There is no single method that provides full accuracy.
• Behavioral: affected by illumination, glasses, mustache
• Vehicular: unreliable in certain road/weather conditions
• Physiological: accurate but intrusive
Need: a comparative understanding and an improved approach to reliably detect drowsiness in real time.</a:t>
            </a:r>
          </a:p>
        </p:txBody>
      </p:sp>
      <p:sp>
        <p:nvSpPr>
          <p:cNvPr id="14" name="TextBox 13"/>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Objectives of the Study</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What this work aims to achieve</a:t>
            </a:r>
          </a:p>
        </p:txBody>
      </p:sp>
      <p:sp>
        <p:nvSpPr>
          <p:cNvPr id="6" name="TextBox 5"/>
          <p:cNvSpPr txBox="1"/>
          <p:nvPr/>
        </p:nvSpPr>
        <p:spPr>
          <a:xfrm>
            <a:off x="548640" y="1737360"/>
            <a:ext cx="11064240" cy="4389120"/>
          </a:xfrm>
          <a:prstGeom prst="rect">
            <a:avLst/>
          </a:prstGeom>
          <a:noFill/>
        </p:spPr>
        <p:txBody>
          <a:bodyPr wrap="square">
            <a:spAutoFit/>
          </a:bodyPr>
          <a:lstStyle/>
          <a:p>
            <a:pPr>
              <a:spcAft>
                <a:spcPts val="1400"/>
              </a:spcAft>
            </a:pPr>
            <a:r>
              <a:rPr sz="1800" b="1">
                <a:solidFill>
                  <a:srgbClr val="2E86DE"/>
                </a:solidFill>
                <a:latin typeface="Calibri"/>
              </a:rPr>
              <a:t>R1.  </a:t>
            </a:r>
            <a:r>
              <a:rPr sz="1800">
                <a:solidFill>
                  <a:srgbClr val="444444"/>
                </a:solidFill>
                <a:latin typeface="Calibri"/>
              </a:rPr>
              <a:t>To systematically study and classify existing drowsiness detection techniques (behavioral, vehicular, physiological).</a:t>
            </a:r>
          </a:p>
          <a:p>
            <a:pPr>
              <a:spcAft>
                <a:spcPts val="1400"/>
              </a:spcAft>
            </a:pPr>
            <a:r>
              <a:rPr sz="1800" b="1">
                <a:solidFill>
                  <a:srgbClr val="2E86DE"/>
                </a:solidFill>
                <a:latin typeface="Calibri"/>
              </a:rPr>
              <a:t>R2.  </a:t>
            </a:r>
            <a:r>
              <a:rPr sz="1800">
                <a:solidFill>
                  <a:srgbClr val="444444"/>
                </a:solidFill>
                <a:latin typeface="Calibri"/>
              </a:rPr>
              <a:t>To review and compare the top supervised learning classifiers used (SVM, HMM, CNN).</a:t>
            </a:r>
          </a:p>
          <a:p>
            <a:pPr>
              <a:spcAft>
                <a:spcPts val="1400"/>
              </a:spcAft>
            </a:pPr>
            <a:r>
              <a:rPr sz="1800" b="1">
                <a:solidFill>
                  <a:srgbClr val="2E86DE"/>
                </a:solidFill>
                <a:latin typeface="Calibri"/>
              </a:rPr>
              <a:t>R3.  </a:t>
            </a:r>
            <a:r>
              <a:rPr sz="1800">
                <a:solidFill>
                  <a:srgbClr val="444444"/>
                </a:solidFill>
                <a:latin typeface="Calibri"/>
              </a:rPr>
              <a:t>To analyze the pros &amp; cons and accuracy of each detection technique under real driving conditions.</a:t>
            </a:r>
          </a:p>
          <a:p>
            <a:pPr>
              <a:spcAft>
                <a:spcPts val="1400"/>
              </a:spcAft>
            </a:pPr>
            <a:r>
              <a:rPr sz="1800" b="1">
                <a:solidFill>
                  <a:srgbClr val="2E86DE"/>
                </a:solidFill>
                <a:latin typeface="Calibri"/>
              </a:rPr>
              <a:t>R4.  </a:t>
            </a:r>
            <a:r>
              <a:rPr sz="1800">
                <a:solidFill>
                  <a:srgbClr val="444444"/>
                </a:solidFill>
                <a:latin typeface="Calibri"/>
              </a:rPr>
              <a:t>To identify research gaps and limitations in current drowsiness detection systems.</a:t>
            </a:r>
          </a:p>
          <a:p>
            <a:pPr>
              <a:spcAft>
                <a:spcPts val="1400"/>
              </a:spcAft>
            </a:pPr>
            <a:r>
              <a:rPr sz="1800" b="1">
                <a:solidFill>
                  <a:srgbClr val="2E86DE"/>
                </a:solidFill>
                <a:latin typeface="Calibri"/>
              </a:rPr>
              <a:t>R5.  </a:t>
            </a:r>
            <a:r>
              <a:rPr sz="1800">
                <a:solidFill>
                  <a:srgbClr val="444444"/>
                </a:solidFill>
                <a:latin typeface="Calibri"/>
              </a:rPr>
              <a:t>To propose an improved / hybrid detection approach for better accuracy and driver safety.</a:t>
            </a:r>
          </a:p>
        </p:txBody>
      </p:sp>
      <p:sp>
        <p:nvSpPr>
          <p:cNvPr id="7" name="TextBox 6"/>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Literature Review - Survey Overview</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Systematic review of 41 primary studies from 1,020 papers</a:t>
            </a:r>
          </a:p>
        </p:txBody>
      </p:sp>
      <p:sp>
        <p:nvSpPr>
          <p:cNvPr id="6" name="Rectangle 5"/>
          <p:cNvSpPr/>
          <p:nvPr/>
        </p:nvSpPr>
        <p:spPr>
          <a:xfrm>
            <a:off x="54864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82296" cy="4114800"/>
          </a:xfrm>
          <a:prstGeom prst="rect">
            <a:avLst/>
          </a:prstGeom>
          <a:solidFill>
            <a:srgbClr val="179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4892040" cy="457200"/>
          </a:xfrm>
          <a:prstGeom prst="rect">
            <a:avLst/>
          </a:prstGeom>
          <a:noFill/>
        </p:spPr>
        <p:txBody>
          <a:bodyPr wrap="square" lIns="0" rIns="0" tIns="0" bIns="0">
            <a:spAutoFit/>
          </a:bodyPr>
          <a:lstStyle/>
          <a:p>
            <a:pPr algn="l"/>
            <a:r>
              <a:rPr sz="1800" b="1" i="0">
                <a:solidFill>
                  <a:srgbClr val="1F3B5C"/>
                </a:solidFill>
                <a:latin typeface="Calibri"/>
              </a:rPr>
              <a:t>Selection Process</a:t>
            </a:r>
          </a:p>
        </p:txBody>
      </p:sp>
      <p:sp>
        <p:nvSpPr>
          <p:cNvPr id="9" name="TextBox 8"/>
          <p:cNvSpPr txBox="1"/>
          <p:nvPr/>
        </p:nvSpPr>
        <p:spPr>
          <a:xfrm>
            <a:off x="822960" y="2331720"/>
            <a:ext cx="4892040" cy="3337560"/>
          </a:xfrm>
          <a:prstGeom prst="rect">
            <a:avLst/>
          </a:prstGeom>
          <a:noFill/>
        </p:spPr>
        <p:txBody>
          <a:bodyPr wrap="square" lIns="0" rIns="0" tIns="0" bIns="0">
            <a:spAutoFit/>
          </a:bodyPr>
          <a:lstStyle/>
          <a:p>
            <a:pPr algn="l"/>
            <a:r>
              <a:rPr sz="1300" b="0" i="0">
                <a:solidFill>
                  <a:srgbClr val="444444"/>
                </a:solidFill>
                <a:latin typeface="Calibri"/>
              </a:rPr>
              <a:t>1,020 papers searched (IEEE Xplore, ACM, Springer, Google Scholar, IJCS, MDPI)
      ↓ title relevance
105 papers
      ↓ abstract screening
74 papers
      ↓ full-text study
41 primary studies selected</a:t>
            </a:r>
          </a:p>
        </p:txBody>
      </p:sp>
      <p:sp>
        <p:nvSpPr>
          <p:cNvPr id="10" name="Rectangle 9"/>
          <p:cNvSpPr/>
          <p:nvPr/>
        </p:nvSpPr>
        <p:spPr>
          <a:xfrm>
            <a:off x="621792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37360"/>
            <a:ext cx="82296" cy="4114800"/>
          </a:xfrm>
          <a:prstGeom prst="rect">
            <a:avLst/>
          </a:prstGeom>
          <a:solidFill>
            <a:srgbClr val="F0A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20"/>
            <a:ext cx="4892040" cy="457200"/>
          </a:xfrm>
          <a:prstGeom prst="rect">
            <a:avLst/>
          </a:prstGeom>
          <a:noFill/>
        </p:spPr>
        <p:txBody>
          <a:bodyPr wrap="square" lIns="0" rIns="0" tIns="0" bIns="0">
            <a:spAutoFit/>
          </a:bodyPr>
          <a:lstStyle/>
          <a:p>
            <a:pPr algn="l"/>
            <a:r>
              <a:rPr sz="1800" b="1" i="0">
                <a:solidFill>
                  <a:srgbClr val="1F3B5C"/>
                </a:solidFill>
                <a:latin typeface="Calibri"/>
              </a:rPr>
              <a:t>What the Survey Covers</a:t>
            </a:r>
          </a:p>
        </p:txBody>
      </p:sp>
      <p:sp>
        <p:nvSpPr>
          <p:cNvPr id="13" name="TextBox 12"/>
          <p:cNvSpPr txBox="1"/>
          <p:nvPr/>
        </p:nvSpPr>
        <p:spPr>
          <a:xfrm>
            <a:off x="6492240" y="2331720"/>
            <a:ext cx="4892040" cy="3337560"/>
          </a:xfrm>
          <a:prstGeom prst="rect">
            <a:avLst/>
          </a:prstGeom>
          <a:noFill/>
        </p:spPr>
        <p:txBody>
          <a:bodyPr wrap="square" lIns="0" rIns="0" tIns="0" bIns="0">
            <a:spAutoFit/>
          </a:bodyPr>
          <a:lstStyle/>
          <a:p>
            <a:pPr algn="l"/>
            <a:r>
              <a:rPr sz="1300" b="0" i="0">
                <a:solidFill>
                  <a:srgbClr val="444444"/>
                </a:solidFill>
                <a:latin typeface="Calibri"/>
              </a:rPr>
              <a:t>• Classifies techniques into 3 categories
• Reviews each technique with novelty, features &amp; limitations
• Discusses hybrid approaches
• Reviews supervised classifiers (SVM, HMM, CNN)
• Presents pros/cons &amp; comparative studies
• Provides frameworks (diagrams) for understanding</a:t>
            </a:r>
          </a:p>
        </p:txBody>
      </p:sp>
      <p:sp>
        <p:nvSpPr>
          <p:cNvPr id="14" name="TextBox 13"/>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Technique 1: Behavioral Parameters</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Non-invasive camera + computer vision</a:t>
            </a:r>
          </a:p>
        </p:txBody>
      </p:sp>
      <p:sp>
        <p:nvSpPr>
          <p:cNvPr id="6" name="TextBox 5"/>
          <p:cNvSpPr txBox="1"/>
          <p:nvPr/>
        </p:nvSpPr>
        <p:spPr>
          <a:xfrm>
            <a:off x="548640" y="1645920"/>
            <a:ext cx="11155680" cy="3840480"/>
          </a:xfrm>
          <a:prstGeom prst="rect">
            <a:avLst/>
          </a:prstGeom>
          <a:noFill/>
        </p:spPr>
        <p:txBody>
          <a:bodyPr wrap="square">
            <a:spAutoFit/>
          </a:bodyPr>
          <a:lstStyle/>
          <a:p>
            <a:pPr>
              <a:spcAft>
                <a:spcPts val="600"/>
              </a:spcAft>
            </a:pPr>
            <a:r>
              <a:rPr sz="1500" b="1">
                <a:solidFill>
                  <a:srgbClr val="1F3B5C"/>
                </a:solidFill>
                <a:latin typeface="Calibri"/>
              </a:rPr>
              <a:t>• Signals used  </a:t>
            </a:r>
            <a:r>
              <a:rPr sz="1400">
                <a:solidFill>
                  <a:srgbClr val="444444"/>
                </a:solidFill>
                <a:latin typeface="Calibri"/>
              </a:rPr>
              <a:t>Eye closure ratio (PERCLOS), eye blinking, head position, facial expressions, yawning.</a:t>
            </a:r>
          </a:p>
          <a:p>
            <a:pPr>
              <a:spcAft>
                <a:spcPts val="600"/>
              </a:spcAft>
            </a:pPr>
            <a:r>
              <a:rPr sz="1500" b="1">
                <a:solidFill>
                  <a:srgbClr val="1F3B5C"/>
                </a:solidFill>
                <a:latin typeface="Calibri"/>
              </a:rPr>
              <a:t>• Eye Tracking + Dynamic Template Matching  </a:t>
            </a:r>
            <a:r>
              <a:rPr sz="1400">
                <a:solidFill>
                  <a:srgbClr val="444444"/>
                </a:solidFill>
                <a:latin typeface="Calibri"/>
              </a:rPr>
              <a:t>HSI model + Sobel edge operator for eyes - 99.01% accuracy.</a:t>
            </a:r>
          </a:p>
          <a:p>
            <a:pPr>
              <a:spcAft>
                <a:spcPts val="600"/>
              </a:spcAft>
            </a:pPr>
            <a:r>
              <a:rPr sz="1500" b="1">
                <a:solidFill>
                  <a:srgbClr val="1F3B5C"/>
                </a:solidFill>
                <a:latin typeface="Calibri"/>
              </a:rPr>
              <a:t>• Mouth &amp; Yawning Analysis  </a:t>
            </a:r>
            <a:r>
              <a:rPr sz="1400">
                <a:solidFill>
                  <a:srgbClr val="444444"/>
                </a:solidFill>
                <a:latin typeface="Calibri"/>
              </a:rPr>
              <a:t>SVM-trained mouth/yawning regions - outperforms geometric features.</a:t>
            </a:r>
          </a:p>
          <a:p>
            <a:pPr>
              <a:spcAft>
                <a:spcPts val="600"/>
              </a:spcAft>
            </a:pPr>
            <a:r>
              <a:rPr sz="1500" b="1">
                <a:solidFill>
                  <a:srgbClr val="1F3B5C"/>
                </a:solidFill>
                <a:latin typeface="Calibri"/>
              </a:rPr>
              <a:t>• Yawning Extraction  </a:t>
            </a:r>
            <a:r>
              <a:rPr sz="1400">
                <a:solidFill>
                  <a:srgbClr val="444444"/>
                </a:solidFill>
                <a:latin typeface="Calibri"/>
              </a:rPr>
              <a:t>SVM face detection + Circular Hough Transform for wide-open mouth - 98% accuracy.</a:t>
            </a:r>
          </a:p>
          <a:p>
            <a:pPr>
              <a:spcAft>
                <a:spcPts val="600"/>
              </a:spcAft>
            </a:pPr>
            <a:r>
              <a:rPr sz="1500" b="1">
                <a:solidFill>
                  <a:srgbClr val="1F3B5C"/>
                </a:solidFill>
                <a:latin typeface="Calibri"/>
              </a:rPr>
              <a:t>• Eye Closure + Head Postures  </a:t>
            </a:r>
            <a:r>
              <a:rPr sz="1400">
                <a:solidFill>
                  <a:srgbClr val="444444"/>
                </a:solidFill>
                <a:latin typeface="Calibri"/>
              </a:rPr>
              <a:t>Viola-Jones + Wavelet Network - 80% accuracy.</a:t>
            </a:r>
          </a:p>
          <a:p>
            <a:pPr>
              <a:spcAft>
                <a:spcPts val="600"/>
              </a:spcAft>
            </a:pPr>
            <a:r>
              <a:rPr sz="1500" b="1">
                <a:solidFill>
                  <a:srgbClr val="1F3B5C"/>
                </a:solidFill>
                <a:latin typeface="Calibri"/>
              </a:rPr>
              <a:t>• Eye Blink Detection  </a:t>
            </a:r>
            <a:r>
              <a:rPr sz="1400">
                <a:solidFill>
                  <a:srgbClr val="444444"/>
                </a:solidFill>
                <a:latin typeface="Calibri"/>
              </a:rPr>
              <a:t>Blink rate below normal (12-19/min) triggers alert - 90% efficiency.</a:t>
            </a:r>
          </a:p>
          <a:p>
            <a:pPr>
              <a:spcAft>
                <a:spcPts val="600"/>
              </a:spcAft>
            </a:pPr>
            <a:r>
              <a:rPr sz="1500" b="1">
                <a:solidFill>
                  <a:srgbClr val="1F3B5C"/>
                </a:solidFill>
                <a:latin typeface="Calibri"/>
              </a:rPr>
              <a:t>• Eye Closeness (Raspberry Pi)  </a:t>
            </a:r>
            <a:r>
              <a:rPr sz="1400">
                <a:solidFill>
                  <a:srgbClr val="444444"/>
                </a:solidFill>
                <a:latin typeface="Calibri"/>
              </a:rPr>
              <a:t>Haar cascade + template matching - 99.59% accuracy, all lighting, works with glasses.</a:t>
            </a:r>
          </a:p>
        </p:txBody>
      </p:sp>
      <p:sp>
        <p:nvSpPr>
          <p:cNvPr id="7" name="Rectangle 6"/>
          <p:cNvSpPr/>
          <p:nvPr/>
        </p:nvSpPr>
        <p:spPr>
          <a:xfrm>
            <a:off x="548640" y="5623560"/>
            <a:ext cx="11155680" cy="82296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623560"/>
            <a:ext cx="82296" cy="822960"/>
          </a:xfrm>
          <a:prstGeom prst="rect">
            <a:avLst/>
          </a:prstGeom>
          <a:solidFill>
            <a:srgbClr val="F0A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760720"/>
            <a:ext cx="10652760" cy="457200"/>
          </a:xfrm>
          <a:prstGeom prst="rect">
            <a:avLst/>
          </a:prstGeom>
          <a:noFill/>
        </p:spPr>
        <p:txBody>
          <a:bodyPr wrap="square" lIns="0" rIns="0" tIns="0" bIns="0">
            <a:spAutoFit/>
          </a:bodyPr>
          <a:lstStyle/>
          <a:p>
            <a:pPr algn="l"/>
            <a:r>
              <a:rPr sz="1800" b="1" i="0">
                <a:solidFill>
                  <a:srgbClr val="1F3B5C"/>
                </a:solidFill>
                <a:latin typeface="Calibri"/>
              </a:rPr>
              <a:t>Limitation</a:t>
            </a:r>
          </a:p>
        </p:txBody>
      </p:sp>
      <p:sp>
        <p:nvSpPr>
          <p:cNvPr id="10" name="TextBox 9"/>
          <p:cNvSpPr txBox="1"/>
          <p:nvPr/>
        </p:nvSpPr>
        <p:spPr>
          <a:xfrm>
            <a:off x="822960" y="6217920"/>
            <a:ext cx="10652760" cy="45720"/>
          </a:xfrm>
          <a:prstGeom prst="rect">
            <a:avLst/>
          </a:prstGeom>
          <a:noFill/>
        </p:spPr>
        <p:txBody>
          <a:bodyPr wrap="square" lIns="0" rIns="0" tIns="0" bIns="0">
            <a:spAutoFit/>
          </a:bodyPr>
          <a:lstStyle/>
          <a:p>
            <a:pPr algn="l"/>
            <a:r>
              <a:rPr sz="1300" b="0" i="0">
                <a:solidFill>
                  <a:srgbClr val="444444"/>
                </a:solidFill>
                <a:latin typeface="Calibri"/>
              </a:rPr>
              <a:t>Accuracy is affected by illumination, brightness and road conditions; reduced performance with sunglasses or mustache.</a:t>
            </a:r>
          </a:p>
        </p:txBody>
      </p:sp>
      <p:sp>
        <p:nvSpPr>
          <p:cNvPr id="11" name="TextBox 10"/>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Technique 2: Vehicular Parameters</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Detecting fatigue from driving behavior</a:t>
            </a:r>
          </a:p>
        </p:txBody>
      </p:sp>
      <p:sp>
        <p:nvSpPr>
          <p:cNvPr id="6" name="TextBox 5"/>
          <p:cNvSpPr txBox="1"/>
          <p:nvPr/>
        </p:nvSpPr>
        <p:spPr>
          <a:xfrm>
            <a:off x="548640" y="1645920"/>
            <a:ext cx="11155680" cy="3840480"/>
          </a:xfrm>
          <a:prstGeom prst="rect">
            <a:avLst/>
          </a:prstGeom>
          <a:noFill/>
        </p:spPr>
        <p:txBody>
          <a:bodyPr wrap="square">
            <a:spAutoFit/>
          </a:bodyPr>
          <a:lstStyle/>
          <a:p>
            <a:pPr>
              <a:spcAft>
                <a:spcPts val="600"/>
              </a:spcAft>
            </a:pPr>
            <a:r>
              <a:rPr sz="1600" b="1">
                <a:solidFill>
                  <a:srgbClr val="1F3B5C"/>
                </a:solidFill>
                <a:latin typeface="Calibri"/>
              </a:rPr>
              <a:t>• Signals used  </a:t>
            </a:r>
            <a:r>
              <a:rPr sz="1500">
                <a:solidFill>
                  <a:srgbClr val="444444"/>
                </a:solidFill>
                <a:latin typeface="Calibri"/>
              </a:rPr>
              <a:t>Lane-change patterns, vehicle speed variability, steering wheel angle, steering grip force.</a:t>
            </a:r>
          </a:p>
          <a:p>
            <a:pPr>
              <a:spcAft>
                <a:spcPts val="600"/>
              </a:spcAft>
            </a:pPr>
            <a:r>
              <a:rPr sz="1600" b="1">
                <a:solidFill>
                  <a:srgbClr val="1F3B5C"/>
                </a:solidFill>
                <a:latin typeface="Calibri"/>
              </a:rPr>
              <a:t>• Real-time Lane Detection  </a:t>
            </a:r>
            <a:r>
              <a:rPr sz="1500">
                <a:solidFill>
                  <a:srgbClr val="444444"/>
                </a:solidFill>
                <a:latin typeface="Calibri"/>
              </a:rPr>
              <a:t>Hough transform for lanes + Viola-Jones / Otsu / Canny for eyes; works in low light.</a:t>
            </a:r>
          </a:p>
          <a:p>
            <a:pPr>
              <a:spcAft>
                <a:spcPts val="600"/>
              </a:spcAft>
            </a:pPr>
            <a:r>
              <a:rPr sz="1600" b="1">
                <a:solidFill>
                  <a:srgbClr val="1F3B5C"/>
                </a:solidFill>
                <a:latin typeface="Calibri"/>
              </a:rPr>
              <a:t>• Steering Angular Velocity  </a:t>
            </a:r>
            <a:r>
              <a:rPr sz="1500">
                <a:solidFill>
                  <a:srgbClr val="444444"/>
                </a:solidFill>
                <a:latin typeface="Calibri"/>
              </a:rPr>
              <a:t>Time-series analysis with temporal detection window.</a:t>
            </a:r>
          </a:p>
          <a:p>
            <a:pPr>
              <a:spcAft>
                <a:spcPts val="600"/>
              </a:spcAft>
            </a:pPr>
            <a:r>
              <a:rPr sz="1600" b="1">
                <a:solidFill>
                  <a:srgbClr val="1F3B5C"/>
                </a:solidFill>
                <a:latin typeface="Calibri"/>
              </a:rPr>
              <a:t>• Steering Wheel Angles (SWA)  </a:t>
            </a:r>
            <a:r>
              <a:rPr sz="1500">
                <a:solidFill>
                  <a:srgbClr val="444444"/>
                </a:solidFill>
                <a:latin typeface="Calibri"/>
              </a:rPr>
              <a:t>Approximate Entropy (ApEn) + linear piecewise fitting + warping distance - 78.01% accuracy.</a:t>
            </a:r>
          </a:p>
          <a:p>
            <a:pPr>
              <a:spcAft>
                <a:spcPts val="600"/>
              </a:spcAft>
            </a:pPr>
            <a:r>
              <a:rPr sz="1600" b="1">
                <a:solidFill>
                  <a:srgbClr val="1F3B5C"/>
                </a:solidFill>
                <a:latin typeface="Calibri"/>
              </a:rPr>
              <a:t>• SWA + Yaw Angles  </a:t>
            </a:r>
            <a:r>
              <a:rPr sz="1500">
                <a:solidFill>
                  <a:srgbClr val="444444"/>
                </a:solidFill>
                <a:latin typeface="Calibri"/>
              </a:rPr>
              <a:t>ApEn features + 2-6-6-3 back-propagation NN - 88.02% average accuracy.</a:t>
            </a:r>
          </a:p>
        </p:txBody>
      </p:sp>
      <p:sp>
        <p:nvSpPr>
          <p:cNvPr id="7" name="Rectangle 6"/>
          <p:cNvSpPr/>
          <p:nvPr/>
        </p:nvSpPr>
        <p:spPr>
          <a:xfrm>
            <a:off x="548640" y="5623560"/>
            <a:ext cx="11155680" cy="82296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623560"/>
            <a:ext cx="82296" cy="822960"/>
          </a:xfrm>
          <a:prstGeom prst="rect">
            <a:avLst/>
          </a:prstGeom>
          <a:solidFill>
            <a:srgbClr val="F0A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760720"/>
            <a:ext cx="10652760" cy="457200"/>
          </a:xfrm>
          <a:prstGeom prst="rect">
            <a:avLst/>
          </a:prstGeom>
          <a:noFill/>
        </p:spPr>
        <p:txBody>
          <a:bodyPr wrap="square" lIns="0" rIns="0" tIns="0" bIns="0">
            <a:spAutoFit/>
          </a:bodyPr>
          <a:lstStyle/>
          <a:p>
            <a:pPr algn="l"/>
            <a:r>
              <a:rPr sz="1800" b="1" i="0">
                <a:solidFill>
                  <a:srgbClr val="1F3B5C"/>
                </a:solidFill>
                <a:latin typeface="Calibri"/>
              </a:rPr>
              <a:t>Limitation</a:t>
            </a:r>
          </a:p>
        </p:txBody>
      </p:sp>
      <p:sp>
        <p:nvSpPr>
          <p:cNvPr id="10" name="TextBox 9"/>
          <p:cNvSpPr txBox="1"/>
          <p:nvPr/>
        </p:nvSpPr>
        <p:spPr>
          <a:xfrm>
            <a:off x="822960" y="6217920"/>
            <a:ext cx="10652760" cy="45720"/>
          </a:xfrm>
          <a:prstGeom prst="rect">
            <a:avLst/>
          </a:prstGeom>
          <a:noFill/>
        </p:spPr>
        <p:txBody>
          <a:bodyPr wrap="square" lIns="0" rIns="0" tIns="0" bIns="0">
            <a:spAutoFit/>
          </a:bodyPr>
          <a:lstStyle/>
          <a:p>
            <a:pPr algn="l"/>
            <a:r>
              <a:rPr sz="1300" b="0" i="0">
                <a:solidFill>
                  <a:srgbClr val="444444"/>
                </a:solidFill>
                <a:latin typeface="Calibri"/>
              </a:rPr>
              <a:t>Measurement easily affected by road geometry &amp; weather; grip force depends on driver mood and road type; unreliable when drowsiness does not change driving behavior.</a:t>
            </a:r>
          </a:p>
        </p:txBody>
      </p:sp>
      <p:sp>
        <p:nvSpPr>
          <p:cNvPr id="11" name="TextBox 10"/>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Technique 3: Physiological Parameters</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Biological signals - most accurate category</a:t>
            </a:r>
          </a:p>
        </p:txBody>
      </p:sp>
      <p:sp>
        <p:nvSpPr>
          <p:cNvPr id="6" name="TextBox 5"/>
          <p:cNvSpPr txBox="1"/>
          <p:nvPr/>
        </p:nvSpPr>
        <p:spPr>
          <a:xfrm>
            <a:off x="548640" y="1645920"/>
            <a:ext cx="11155680" cy="3840480"/>
          </a:xfrm>
          <a:prstGeom prst="rect">
            <a:avLst/>
          </a:prstGeom>
          <a:noFill/>
        </p:spPr>
        <p:txBody>
          <a:bodyPr wrap="square">
            <a:spAutoFit/>
          </a:bodyPr>
          <a:lstStyle/>
          <a:p>
            <a:pPr>
              <a:spcAft>
                <a:spcPts val="600"/>
              </a:spcAft>
            </a:pPr>
            <a:r>
              <a:rPr sz="1600" b="1">
                <a:solidFill>
                  <a:srgbClr val="1F3B5C"/>
                </a:solidFill>
                <a:latin typeface="Calibri"/>
              </a:rPr>
              <a:t>• Signals used  </a:t>
            </a:r>
            <a:r>
              <a:rPr sz="1500">
                <a:solidFill>
                  <a:srgbClr val="444444"/>
                </a:solidFill>
                <a:latin typeface="Calibri"/>
              </a:rPr>
              <a:t>Heart rate, pulse rate, breathing rate, body temperature, EEG / ECG / PPG / HRV.</a:t>
            </a:r>
          </a:p>
          <a:p>
            <a:pPr>
              <a:spcAft>
                <a:spcPts val="600"/>
              </a:spcAft>
            </a:pPr>
            <a:r>
              <a:rPr sz="1600" b="1">
                <a:solidFill>
                  <a:srgbClr val="1F3B5C"/>
                </a:solidFill>
                <a:latin typeface="Calibri"/>
              </a:rPr>
              <a:t>• EEG-based Detection  </a:t>
            </a:r>
            <a:r>
              <a:rPr sz="1500">
                <a:solidFill>
                  <a:srgbClr val="444444"/>
                </a:solidFill>
                <a:latin typeface="Calibri"/>
              </a:rPr>
              <a:t>Single-electrode neuro-signal device; detects all levels of tiredness.</a:t>
            </a:r>
          </a:p>
          <a:p>
            <a:pPr>
              <a:spcAft>
                <a:spcPts val="600"/>
              </a:spcAft>
            </a:pPr>
            <a:r>
              <a:rPr sz="1600" b="1">
                <a:solidFill>
                  <a:srgbClr val="1F3B5C"/>
                </a:solidFill>
                <a:latin typeface="Calibri"/>
              </a:rPr>
              <a:t>• HRV + SVM  </a:t>
            </a:r>
            <a:r>
              <a:rPr sz="1500">
                <a:solidFill>
                  <a:srgbClr val="444444"/>
                </a:solidFill>
                <a:latin typeface="Calibri"/>
              </a:rPr>
              <a:t>Wavelet analysis of heart-rate variability + SVM - 95% accuracy (vs 68.85% FFT).</a:t>
            </a:r>
          </a:p>
          <a:p>
            <a:pPr>
              <a:spcAft>
                <a:spcPts val="600"/>
              </a:spcAft>
            </a:pPr>
            <a:r>
              <a:rPr sz="1600" b="1">
                <a:solidFill>
                  <a:srgbClr val="1F3B5C"/>
                </a:solidFill>
                <a:latin typeface="Calibri"/>
              </a:rPr>
              <a:t>• Pulse Sensor  </a:t>
            </a:r>
            <a:r>
              <a:rPr sz="1500">
                <a:solidFill>
                  <a:srgbClr val="444444"/>
                </a:solidFill>
                <a:latin typeface="Calibri"/>
              </a:rPr>
              <a:t>Infrared sensor on finger; LF/HF ratio decreases from awake to drowsy.</a:t>
            </a:r>
          </a:p>
          <a:p>
            <a:pPr>
              <a:spcAft>
                <a:spcPts val="600"/>
              </a:spcAft>
            </a:pPr>
            <a:r>
              <a:rPr sz="1600" b="1">
                <a:solidFill>
                  <a:srgbClr val="1F3B5C"/>
                </a:solidFill>
                <a:latin typeface="Calibri"/>
              </a:rPr>
              <a:t>• Wearable Wrist Band  </a:t>
            </a:r>
            <a:r>
              <a:rPr sz="1500">
                <a:solidFill>
                  <a:srgbClr val="444444"/>
                </a:solidFill>
                <a:latin typeface="Calibri"/>
              </a:rPr>
              <a:t>PPG + galvanic skin response, 5 features + SVM - 98.02% accuracy.</a:t>
            </a:r>
          </a:p>
          <a:p>
            <a:pPr>
              <a:spcAft>
                <a:spcPts val="600"/>
              </a:spcAft>
            </a:pPr>
            <a:r>
              <a:rPr sz="1600" b="1">
                <a:solidFill>
                  <a:srgbClr val="1F3B5C"/>
                </a:solidFill>
                <a:latin typeface="Calibri"/>
              </a:rPr>
              <a:t>• ECG + EEG Hybrid  </a:t>
            </a:r>
            <a:r>
              <a:rPr sz="1500">
                <a:solidFill>
                  <a:srgbClr val="444444"/>
                </a:solidFill>
                <a:latin typeface="Calibri"/>
              </a:rPr>
              <a:t>Combined features improve drowsy vs alert discrimination - 80% with channel reduction.</a:t>
            </a:r>
          </a:p>
        </p:txBody>
      </p:sp>
      <p:sp>
        <p:nvSpPr>
          <p:cNvPr id="7" name="Rectangle 6"/>
          <p:cNvSpPr/>
          <p:nvPr/>
        </p:nvSpPr>
        <p:spPr>
          <a:xfrm>
            <a:off x="548640" y="5623560"/>
            <a:ext cx="11155680" cy="82296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623560"/>
            <a:ext cx="82296" cy="822960"/>
          </a:xfrm>
          <a:prstGeom prst="rect">
            <a:avLst/>
          </a:prstGeom>
          <a:solidFill>
            <a:srgbClr val="F0A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760720"/>
            <a:ext cx="10652760" cy="457200"/>
          </a:xfrm>
          <a:prstGeom prst="rect">
            <a:avLst/>
          </a:prstGeom>
          <a:noFill/>
        </p:spPr>
        <p:txBody>
          <a:bodyPr wrap="square" lIns="0" rIns="0" tIns="0" bIns="0">
            <a:spAutoFit/>
          </a:bodyPr>
          <a:lstStyle/>
          <a:p>
            <a:pPr algn="l"/>
            <a:r>
              <a:rPr sz="1800" b="1" i="0">
                <a:solidFill>
                  <a:srgbClr val="1F3B5C"/>
                </a:solidFill>
                <a:latin typeface="Calibri"/>
              </a:rPr>
              <a:t>Limitation</a:t>
            </a:r>
          </a:p>
        </p:txBody>
      </p:sp>
      <p:sp>
        <p:nvSpPr>
          <p:cNvPr id="10" name="TextBox 9"/>
          <p:cNvSpPr txBox="1"/>
          <p:nvPr/>
        </p:nvSpPr>
        <p:spPr>
          <a:xfrm>
            <a:off x="822960" y="6217920"/>
            <a:ext cx="10652760" cy="45720"/>
          </a:xfrm>
          <a:prstGeom prst="rect">
            <a:avLst/>
          </a:prstGeom>
          <a:noFill/>
        </p:spPr>
        <p:txBody>
          <a:bodyPr wrap="square" lIns="0" rIns="0" tIns="0" bIns="0">
            <a:spAutoFit/>
          </a:bodyPr>
          <a:lstStyle/>
          <a:p>
            <a:pPr algn="l"/>
            <a:r>
              <a:rPr sz="1300" b="0" i="0">
                <a:solidFill>
                  <a:srgbClr val="444444"/>
                </a:solidFill>
                <a:latin typeface="Calibri"/>
              </a:rPr>
              <a:t>Invasive - requires electrodes placed directly on the driver's body; can irritate the driver and is difficult to implement.</a:t>
            </a:r>
          </a:p>
        </p:txBody>
      </p:sp>
      <p:sp>
        <p:nvSpPr>
          <p:cNvPr id="11" name="TextBox 10"/>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Comparative Analysis of Techniques</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Pros, cons and accuracy</a:t>
            </a:r>
          </a:p>
        </p:txBody>
      </p:sp>
      <p:graphicFrame>
        <p:nvGraphicFramePr>
          <p:cNvPr id="6" name="Table 5"/>
          <p:cNvGraphicFramePr>
            <a:graphicFrameLocks noGrp="1"/>
          </p:cNvGraphicFramePr>
          <p:nvPr/>
        </p:nvGraphicFramePr>
        <p:xfrm>
          <a:off x="548640" y="1600200"/>
          <a:ext cx="11064240" cy="3291840"/>
        </p:xfrm>
        <a:graphic>
          <a:graphicData uri="http://schemas.openxmlformats.org/drawingml/2006/table">
            <a:tbl>
              <a:tblPr firstRow="1" bandRow="1">
                <a:tableStyleId>{5C22544A-7EE6-4342-B048-85BDC9FD1C3A}</a:tableStyleId>
              </a:tblPr>
              <a:tblGrid>
                <a:gridCol w="1737360"/>
                <a:gridCol w="2926080"/>
                <a:gridCol w="3291840"/>
                <a:gridCol w="3108960"/>
              </a:tblGrid>
              <a:tr h="822960">
                <a:tc>
                  <a:txBody>
                    <a:bodyPr/>
                    <a:lstStyle/>
                    <a:p>
                      <a:pPr>
                        <a:defRPr sz="1300" b="1">
                          <a:solidFill>
                            <a:srgbClr val="FFFFFF"/>
                          </a:solidFill>
                          <a:latin typeface="Calibri"/>
                        </a:defRPr>
                      </a:pPr>
                      <a:r>
                        <a:t>Technique</a:t>
                      </a:r>
                    </a:p>
                  </a:txBody>
                  <a:tcPr marT="50800" marB="50800" marL="101600">
                    <a:solidFill>
                      <a:srgbClr val="1F3B5C"/>
                    </a:solidFill>
                  </a:tcPr>
                </a:tc>
                <a:tc>
                  <a:txBody>
                    <a:bodyPr/>
                    <a:lstStyle/>
                    <a:p>
                      <a:pPr>
                        <a:defRPr sz="1300" b="1">
                          <a:solidFill>
                            <a:srgbClr val="FFFFFF"/>
                          </a:solidFill>
                          <a:latin typeface="Calibri"/>
                        </a:defRPr>
                      </a:pPr>
                      <a:r>
                        <a:t>Accuracy Examples</a:t>
                      </a:r>
                    </a:p>
                  </a:txBody>
                  <a:tcPr marT="50800" marB="50800" marL="101600">
                    <a:solidFill>
                      <a:srgbClr val="1F3B5C"/>
                    </a:solidFill>
                  </a:tcPr>
                </a:tc>
                <a:tc>
                  <a:txBody>
                    <a:bodyPr/>
                    <a:lstStyle/>
                    <a:p>
                      <a:pPr>
                        <a:defRPr sz="1300" b="1">
                          <a:solidFill>
                            <a:srgbClr val="FFFFFF"/>
                          </a:solidFill>
                          <a:latin typeface="Calibri"/>
                        </a:defRPr>
                      </a:pPr>
                      <a:r>
                        <a:t>Advantages</a:t>
                      </a:r>
                    </a:p>
                  </a:txBody>
                  <a:tcPr marT="50800" marB="50800" marL="101600">
                    <a:solidFill>
                      <a:srgbClr val="1F3B5C"/>
                    </a:solidFill>
                  </a:tcPr>
                </a:tc>
                <a:tc>
                  <a:txBody>
                    <a:bodyPr/>
                    <a:lstStyle/>
                    <a:p>
                      <a:pPr>
                        <a:defRPr sz="1300" b="1">
                          <a:solidFill>
                            <a:srgbClr val="FFFFFF"/>
                          </a:solidFill>
                          <a:latin typeface="Calibri"/>
                        </a:defRPr>
                      </a:pPr>
                      <a:r>
                        <a:t>Disadvantages</a:t>
                      </a:r>
                    </a:p>
                  </a:txBody>
                  <a:tcPr marT="50800" marB="50800" marL="101600">
                    <a:solidFill>
                      <a:srgbClr val="1F3B5C"/>
                    </a:solidFill>
                  </a:tcPr>
                </a:tc>
              </a:tr>
              <a:tr h="822960">
                <a:tc>
                  <a:txBody>
                    <a:bodyPr/>
                    <a:lstStyle/>
                    <a:p>
                      <a:pPr>
                        <a:defRPr sz="1300" b="1">
                          <a:solidFill>
                            <a:srgbClr val="444444"/>
                          </a:solidFill>
                          <a:latin typeface="Calibri"/>
                        </a:defRPr>
                      </a:pPr>
                      <a:r>
                        <a:t>Behavioral</a:t>
                      </a:r>
                    </a:p>
                  </a:txBody>
                  <a:tcPr marT="50800" marB="50800" marL="101600"/>
                </a:tc>
                <a:tc>
                  <a:txBody>
                    <a:bodyPr/>
                    <a:lstStyle/>
                    <a:p>
                      <a:pPr>
                        <a:defRPr sz="1300" b="0">
                          <a:solidFill>
                            <a:srgbClr val="444444"/>
                          </a:solidFill>
                          <a:latin typeface="Calibri"/>
                        </a:defRPr>
                      </a:pPr>
                      <a:r>
                        <a:t>80% - 99.59%</a:t>
                      </a:r>
                    </a:p>
                  </a:txBody>
                  <a:tcPr marT="50800" marB="50800" marL="101600"/>
                </a:tc>
                <a:tc>
                  <a:txBody>
                    <a:bodyPr/>
                    <a:lstStyle/>
                    <a:p>
                      <a:pPr>
                        <a:defRPr sz="1300" b="0">
                          <a:solidFill>
                            <a:srgbClr val="444444"/>
                          </a:solidFill>
                          <a:latin typeface="Calibri"/>
                        </a:defRPr>
                      </a:pPr>
                      <a:r>
                        <a:t>Non-invasive, camera-based, easy to use</a:t>
                      </a:r>
                    </a:p>
                  </a:txBody>
                  <a:tcPr marT="50800" marB="50800" marL="101600"/>
                </a:tc>
                <a:tc>
                  <a:txBody>
                    <a:bodyPr/>
                    <a:lstStyle/>
                    <a:p>
                      <a:pPr>
                        <a:defRPr sz="1300" b="0">
                          <a:solidFill>
                            <a:srgbClr val="444444"/>
                          </a:solidFill>
                          <a:latin typeface="Calibri"/>
                        </a:defRPr>
                      </a:pPr>
                      <a:r>
                        <a:t>Illumination / glasses / mustache effects</a:t>
                      </a:r>
                    </a:p>
                  </a:txBody>
                  <a:tcPr marT="50800" marB="50800" marL="101600"/>
                </a:tc>
              </a:tr>
              <a:tr h="822960">
                <a:tc>
                  <a:txBody>
                    <a:bodyPr/>
                    <a:lstStyle/>
                    <a:p>
                      <a:pPr>
                        <a:defRPr sz="1300" b="1">
                          <a:solidFill>
                            <a:srgbClr val="444444"/>
                          </a:solidFill>
                          <a:latin typeface="Calibri"/>
                        </a:defRPr>
                      </a:pPr>
                      <a:r>
                        <a:t>Vehicular</a:t>
                      </a:r>
                    </a:p>
                  </a:txBody>
                  <a:tcPr marT="50800" marB="50800" marL="101600">
                    <a:solidFill>
                      <a:srgbClr val="ECF4FB"/>
                    </a:solidFill>
                  </a:tcPr>
                </a:tc>
                <a:tc>
                  <a:txBody>
                    <a:bodyPr/>
                    <a:lstStyle/>
                    <a:p>
                      <a:pPr>
                        <a:defRPr sz="1300" b="0">
                          <a:solidFill>
                            <a:srgbClr val="444444"/>
                          </a:solidFill>
                          <a:latin typeface="Calibri"/>
                        </a:defRPr>
                      </a:pPr>
                      <a:r>
                        <a:t>78.01% - 88.02%</a:t>
                      </a:r>
                    </a:p>
                  </a:txBody>
                  <a:tcPr marT="50800" marB="50800" marL="101600">
                    <a:solidFill>
                      <a:srgbClr val="ECF4FB"/>
                    </a:solidFill>
                  </a:tcPr>
                </a:tc>
                <a:tc>
                  <a:txBody>
                    <a:bodyPr/>
                    <a:lstStyle/>
                    <a:p>
                      <a:pPr>
                        <a:defRPr sz="1300" b="0">
                          <a:solidFill>
                            <a:srgbClr val="444444"/>
                          </a:solidFill>
                          <a:latin typeface="Calibri"/>
                        </a:defRPr>
                      </a:pPr>
                      <a:r>
                        <a:t>No body contact, uses vehicle sensors</a:t>
                      </a:r>
                    </a:p>
                  </a:txBody>
                  <a:tcPr marT="50800" marB="50800" marL="101600">
                    <a:solidFill>
                      <a:srgbClr val="ECF4FB"/>
                    </a:solidFill>
                  </a:tcPr>
                </a:tc>
                <a:tc>
                  <a:txBody>
                    <a:bodyPr/>
                    <a:lstStyle/>
                    <a:p>
                      <a:pPr>
                        <a:defRPr sz="1300" b="0">
                          <a:solidFill>
                            <a:srgbClr val="444444"/>
                          </a:solidFill>
                          <a:latin typeface="Calibri"/>
                        </a:defRPr>
                      </a:pPr>
                      <a:r>
                        <a:t>Road geometry &amp; weather dependent</a:t>
                      </a:r>
                    </a:p>
                  </a:txBody>
                  <a:tcPr marT="50800" marB="50800" marL="101600">
                    <a:solidFill>
                      <a:srgbClr val="ECF4FB"/>
                    </a:solidFill>
                  </a:tcPr>
                </a:tc>
              </a:tr>
              <a:tr h="822960">
                <a:tc>
                  <a:txBody>
                    <a:bodyPr/>
                    <a:lstStyle/>
                    <a:p>
                      <a:pPr>
                        <a:defRPr sz="1300" b="1">
                          <a:solidFill>
                            <a:srgbClr val="444444"/>
                          </a:solidFill>
                          <a:latin typeface="Calibri"/>
                        </a:defRPr>
                      </a:pPr>
                      <a:r>
                        <a:t>Physiological</a:t>
                      </a:r>
                    </a:p>
                  </a:txBody>
                  <a:tcPr marT="50800" marB="50800" marL="101600"/>
                </a:tc>
                <a:tc>
                  <a:txBody>
                    <a:bodyPr/>
                    <a:lstStyle/>
                    <a:p>
                      <a:pPr>
                        <a:defRPr sz="1300" b="0">
                          <a:solidFill>
                            <a:srgbClr val="444444"/>
                          </a:solidFill>
                          <a:latin typeface="Calibri"/>
                        </a:defRPr>
                      </a:pPr>
                      <a:r>
                        <a:t>80% - 98.02%</a:t>
                      </a:r>
                    </a:p>
                  </a:txBody>
                  <a:tcPr marT="50800" marB="50800" marL="101600"/>
                </a:tc>
                <a:tc>
                  <a:txBody>
                    <a:bodyPr/>
                    <a:lstStyle/>
                    <a:p>
                      <a:pPr>
                        <a:defRPr sz="1300" b="0">
                          <a:solidFill>
                            <a:srgbClr val="444444"/>
                          </a:solidFill>
                          <a:latin typeface="Calibri"/>
                        </a:defRPr>
                      </a:pPr>
                      <a:r>
                        <a:t>Most accurate &amp; stable results</a:t>
                      </a:r>
                    </a:p>
                  </a:txBody>
                  <a:tcPr marT="50800" marB="50800" marL="101600"/>
                </a:tc>
                <a:tc>
                  <a:txBody>
                    <a:bodyPr/>
                    <a:lstStyle/>
                    <a:p>
                      <a:pPr>
                        <a:defRPr sz="1300" b="0">
                          <a:solidFill>
                            <a:srgbClr val="444444"/>
                          </a:solidFill>
                          <a:latin typeface="Calibri"/>
                        </a:defRPr>
                      </a:pPr>
                      <a:r>
                        <a:t>Intrusive; needs electrodes on body</a:t>
                      </a:r>
                    </a:p>
                  </a:txBody>
                  <a:tcPr marT="50800" marB="50800" marL="101600"/>
                </a:tc>
              </a:tr>
            </a:tbl>
          </a:graphicData>
        </a:graphic>
      </p:graphicFrame>
      <p:sp>
        <p:nvSpPr>
          <p:cNvPr id="7" name="TextBox 6"/>
          <p:cNvSpPr txBox="1"/>
          <p:nvPr/>
        </p:nvSpPr>
        <p:spPr>
          <a:xfrm>
            <a:off x="548640" y="5212080"/>
            <a:ext cx="11064240" cy="1097280"/>
          </a:xfrm>
          <a:prstGeom prst="rect">
            <a:avLst/>
          </a:prstGeom>
          <a:noFill/>
        </p:spPr>
        <p:txBody>
          <a:bodyPr wrap="square" lIns="0" rIns="0" tIns="0" bIns="0">
            <a:spAutoFit/>
          </a:bodyPr>
          <a:lstStyle/>
          <a:p>
            <a:pPr algn="l"/>
            <a:r>
              <a:rPr sz="1500" b="1" i="0">
                <a:solidFill>
                  <a:srgbClr val="1F3B5C"/>
                </a:solidFill>
                <a:latin typeface="Calibri"/>
              </a:rPr>
              <a:t>Key finding: physiological parameters give the most accurate and stable results across lighting, sunglasses and mustache conditions. Their intrusiveness is being reduced via wireless sensors embedded in seats, seat belts, covers and steering wheels.</a:t>
            </a:r>
          </a:p>
        </p:txBody>
      </p:sp>
      <p:sp>
        <p:nvSpPr>
          <p:cNvPr id="8" name="TextBox 7"/>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Classification Methods (Supervised Learning)</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SVM, HMM and CNN comparison</a:t>
            </a:r>
          </a:p>
        </p:txBody>
      </p:sp>
      <p:sp>
        <p:nvSpPr>
          <p:cNvPr id="6" name="Rectangle 5"/>
          <p:cNvSpPr/>
          <p:nvPr/>
        </p:nvSpPr>
        <p:spPr>
          <a:xfrm>
            <a:off x="548640" y="1737360"/>
            <a:ext cx="361188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82296" cy="41148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3108960" cy="457200"/>
          </a:xfrm>
          <a:prstGeom prst="rect">
            <a:avLst/>
          </a:prstGeom>
          <a:noFill/>
        </p:spPr>
        <p:txBody>
          <a:bodyPr wrap="square" lIns="0" rIns="0" tIns="0" bIns="0">
            <a:spAutoFit/>
          </a:bodyPr>
          <a:lstStyle/>
          <a:p>
            <a:pPr algn="l"/>
            <a:r>
              <a:rPr sz="1800" b="1" i="0">
                <a:solidFill>
                  <a:srgbClr val="1F3B5C"/>
                </a:solidFill>
                <a:latin typeface="Calibri"/>
              </a:rPr>
              <a:t>SVM</a:t>
            </a:r>
          </a:p>
        </p:txBody>
      </p:sp>
      <p:sp>
        <p:nvSpPr>
          <p:cNvPr id="9" name="TextBox 8"/>
          <p:cNvSpPr txBox="1"/>
          <p:nvPr/>
        </p:nvSpPr>
        <p:spPr>
          <a:xfrm>
            <a:off x="822960" y="2331720"/>
            <a:ext cx="3108960" cy="3337560"/>
          </a:xfrm>
          <a:prstGeom prst="rect">
            <a:avLst/>
          </a:prstGeom>
          <a:noFill/>
        </p:spPr>
        <p:txBody>
          <a:bodyPr wrap="square" lIns="0" rIns="0" tIns="0" bIns="0">
            <a:spAutoFit/>
          </a:bodyPr>
          <a:lstStyle/>
          <a:p>
            <a:pPr algn="l"/>
            <a:r>
              <a:rPr sz="1300" b="0" i="0">
                <a:solidFill>
                  <a:srgbClr val="444444"/>
                </a:solidFill>
                <a:latin typeface="Calibri"/>
              </a:rPr>
              <a:t>Support Vector Machine
• Supervised learning for classification &amp; regression
• Easiest to use - most widely used in DDT
• Good accuracy &amp; speed in most situations
• Not suitable for large datasets</a:t>
            </a:r>
          </a:p>
        </p:txBody>
      </p:sp>
      <p:sp>
        <p:nvSpPr>
          <p:cNvPr id="10" name="Rectangle 9"/>
          <p:cNvSpPr/>
          <p:nvPr/>
        </p:nvSpPr>
        <p:spPr>
          <a:xfrm>
            <a:off x="4343400" y="1737360"/>
            <a:ext cx="361188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737360"/>
            <a:ext cx="82296" cy="4114800"/>
          </a:xfrm>
          <a:prstGeom prst="rect">
            <a:avLst/>
          </a:prstGeom>
          <a:solidFill>
            <a:srgbClr val="179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74520"/>
            <a:ext cx="3108960" cy="457200"/>
          </a:xfrm>
          <a:prstGeom prst="rect">
            <a:avLst/>
          </a:prstGeom>
          <a:noFill/>
        </p:spPr>
        <p:txBody>
          <a:bodyPr wrap="square" lIns="0" rIns="0" tIns="0" bIns="0">
            <a:spAutoFit/>
          </a:bodyPr>
          <a:lstStyle/>
          <a:p>
            <a:pPr algn="l"/>
            <a:r>
              <a:rPr sz="1800" b="1" i="0">
                <a:solidFill>
                  <a:srgbClr val="1F3B5C"/>
                </a:solidFill>
                <a:latin typeface="Calibri"/>
              </a:rPr>
              <a:t>HMM</a:t>
            </a:r>
          </a:p>
        </p:txBody>
      </p:sp>
      <p:sp>
        <p:nvSpPr>
          <p:cNvPr id="13" name="TextBox 12"/>
          <p:cNvSpPr txBox="1"/>
          <p:nvPr/>
        </p:nvSpPr>
        <p:spPr>
          <a:xfrm>
            <a:off x="4617720" y="2331720"/>
            <a:ext cx="3108960" cy="3337560"/>
          </a:xfrm>
          <a:prstGeom prst="rect">
            <a:avLst/>
          </a:prstGeom>
          <a:noFill/>
        </p:spPr>
        <p:txBody>
          <a:bodyPr wrap="square" lIns="0" rIns="0" tIns="0" bIns="0">
            <a:spAutoFit/>
          </a:bodyPr>
          <a:lstStyle/>
          <a:p>
            <a:pPr algn="l"/>
            <a:r>
              <a:rPr sz="1300" b="0" i="0">
                <a:solidFill>
                  <a:srgbClr val="444444"/>
                </a:solidFill>
                <a:latin typeface="Calibri"/>
              </a:rPr>
              <a:t>Hidden Markov Model
• Statistical model of hidden states from observed states
• Lowest error rate (highest accuracy)
• Used for facial expressions, eye tracking, wrinkle analysis
• Slow &amp; expensive training</a:t>
            </a:r>
          </a:p>
        </p:txBody>
      </p:sp>
      <p:sp>
        <p:nvSpPr>
          <p:cNvPr id="14" name="Rectangle 13"/>
          <p:cNvSpPr/>
          <p:nvPr/>
        </p:nvSpPr>
        <p:spPr>
          <a:xfrm>
            <a:off x="8138160" y="1737360"/>
            <a:ext cx="361188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737360"/>
            <a:ext cx="82296" cy="4114800"/>
          </a:xfrm>
          <a:prstGeom prst="rect">
            <a:avLst/>
          </a:prstGeom>
          <a:solidFill>
            <a:srgbClr val="F0A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874520"/>
            <a:ext cx="3108960" cy="457200"/>
          </a:xfrm>
          <a:prstGeom prst="rect">
            <a:avLst/>
          </a:prstGeom>
          <a:noFill/>
        </p:spPr>
        <p:txBody>
          <a:bodyPr wrap="square" lIns="0" rIns="0" tIns="0" bIns="0">
            <a:spAutoFit/>
          </a:bodyPr>
          <a:lstStyle/>
          <a:p>
            <a:pPr algn="l"/>
            <a:r>
              <a:rPr sz="1800" b="1" i="0">
                <a:solidFill>
                  <a:srgbClr val="1F3B5C"/>
                </a:solidFill>
                <a:latin typeface="Calibri"/>
              </a:rPr>
              <a:t>CNN</a:t>
            </a:r>
          </a:p>
        </p:txBody>
      </p:sp>
      <p:sp>
        <p:nvSpPr>
          <p:cNvPr id="17" name="TextBox 16"/>
          <p:cNvSpPr txBox="1"/>
          <p:nvPr/>
        </p:nvSpPr>
        <p:spPr>
          <a:xfrm>
            <a:off x="8412480" y="2331720"/>
            <a:ext cx="3108960" cy="3337560"/>
          </a:xfrm>
          <a:prstGeom prst="rect">
            <a:avLst/>
          </a:prstGeom>
          <a:noFill/>
        </p:spPr>
        <p:txBody>
          <a:bodyPr wrap="square" lIns="0" rIns="0" tIns="0" bIns="0">
            <a:spAutoFit/>
          </a:bodyPr>
          <a:lstStyle/>
          <a:p>
            <a:pPr algn="l"/>
            <a:r>
              <a:rPr sz="1300" b="0" i="0">
                <a:solidFill>
                  <a:srgbClr val="444444"/>
                </a:solidFill>
                <a:latin typeface="Calibri"/>
              </a:rPr>
              <a:t>Convolutional Neural Network
• Spatial convolution layers - best for images/video
• Representation learning for drowsiness detection
• 3D CNN handles changing head pose
• Slow &amp; expensive training</a:t>
            </a:r>
          </a:p>
        </p:txBody>
      </p:sp>
      <p:sp>
        <p:nvSpPr>
          <p:cNvPr id="18" name="TextBox 17"/>
          <p:cNvSpPr txBox="1"/>
          <p:nvPr/>
        </p:nvSpPr>
        <p:spPr>
          <a:xfrm>
            <a:off x="548640" y="6035040"/>
            <a:ext cx="11064240" cy="548640"/>
          </a:xfrm>
          <a:prstGeom prst="rect">
            <a:avLst/>
          </a:prstGeom>
          <a:noFill/>
        </p:spPr>
        <p:txBody>
          <a:bodyPr wrap="square" lIns="0" rIns="0" tIns="0" bIns="0">
            <a:spAutoFit/>
          </a:bodyPr>
          <a:lstStyle/>
          <a:p>
            <a:pPr algn="l"/>
            <a:r>
              <a:rPr sz="1500" b="1" i="0">
                <a:solidFill>
                  <a:srgbClr val="1F3B5C"/>
                </a:solidFill>
                <a:latin typeface="Calibri"/>
              </a:rPr>
              <a:t>Choosing the right classifier is critical - it directly impacts system efficiency and accuracy.</a:t>
            </a:r>
          </a:p>
        </p:txBody>
      </p:sp>
      <p:sp>
        <p:nvSpPr>
          <p:cNvPr id="19" name="TextBox 18"/>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Research Gaps Identified</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Findings from the systematic review</a:t>
            </a:r>
          </a:p>
        </p:txBody>
      </p:sp>
      <p:sp>
        <p:nvSpPr>
          <p:cNvPr id="6" name="TextBox 5"/>
          <p:cNvSpPr txBox="1"/>
          <p:nvPr/>
        </p:nvSpPr>
        <p:spPr>
          <a:xfrm>
            <a:off x="548640" y="1737360"/>
            <a:ext cx="11064240" cy="4389120"/>
          </a:xfrm>
          <a:prstGeom prst="rect">
            <a:avLst/>
          </a:prstGeom>
          <a:noFill/>
        </p:spPr>
        <p:txBody>
          <a:bodyPr wrap="square">
            <a:spAutoFit/>
          </a:bodyPr>
          <a:lstStyle/>
          <a:p>
            <a:pPr>
              <a:spcAft>
                <a:spcPts val="1200"/>
              </a:spcAft>
            </a:pPr>
            <a:r>
              <a:rPr sz="1700" b="1">
                <a:solidFill>
                  <a:srgbClr val="1F3B5C"/>
                </a:solidFill>
                <a:latin typeface="Calibri"/>
              </a:rPr>
              <a:t>• Accuracy:  </a:t>
            </a:r>
            <a:r>
              <a:rPr sz="1600">
                <a:solidFill>
                  <a:srgbClr val="444444"/>
                </a:solidFill>
                <a:latin typeface="Calibri"/>
              </a:rPr>
              <a:t>No single technique provides full accuracy - each category has limitations.</a:t>
            </a:r>
          </a:p>
          <a:p>
            <a:pPr>
              <a:spcAft>
                <a:spcPts val="1200"/>
              </a:spcAft>
            </a:pPr>
            <a:r>
              <a:rPr sz="1700" b="1">
                <a:solidFill>
                  <a:srgbClr val="1F3B5C"/>
                </a:solidFill>
                <a:latin typeface="Calibri"/>
              </a:rPr>
              <a:t>• Intrusiveness:  </a:t>
            </a:r>
            <a:r>
              <a:rPr sz="1600">
                <a:solidFill>
                  <a:srgbClr val="444444"/>
                </a:solidFill>
                <a:latin typeface="Calibri"/>
              </a:rPr>
              <a:t>Physiological methods are accurate but invasive; less-intrusive wireless versions lose accuracy.</a:t>
            </a:r>
          </a:p>
          <a:p>
            <a:pPr>
              <a:spcAft>
                <a:spcPts val="1200"/>
              </a:spcAft>
            </a:pPr>
            <a:r>
              <a:rPr sz="1700" b="1">
                <a:solidFill>
                  <a:srgbClr val="1F3B5C"/>
                </a:solidFill>
                <a:latin typeface="Calibri"/>
              </a:rPr>
              <a:t>• Environmental robustness:  </a:t>
            </a:r>
            <a:r>
              <a:rPr sz="1600">
                <a:solidFill>
                  <a:srgbClr val="444444"/>
                </a:solidFill>
                <a:latin typeface="Calibri"/>
              </a:rPr>
              <a:t>Behavioral methods degrade in poor lighting, with glasses / mustache; vehicular methods fail on poor roads.</a:t>
            </a:r>
          </a:p>
          <a:p>
            <a:pPr>
              <a:spcAft>
                <a:spcPts val="1200"/>
              </a:spcAft>
            </a:pPr>
            <a:r>
              <a:rPr sz="1700" b="1">
                <a:solidFill>
                  <a:srgbClr val="1F3B5C"/>
                </a:solidFill>
                <a:latin typeface="Calibri"/>
              </a:rPr>
              <a:t>• Real-time &amp; cost:  </a:t>
            </a:r>
            <a:r>
              <a:rPr sz="1600">
                <a:solidFill>
                  <a:srgbClr val="444444"/>
                </a:solidFill>
                <a:latin typeface="Calibri"/>
              </a:rPr>
              <a:t>High-accuracy classifiers (HMM, CNN) are slow and expensive to train; SVM limited to small datasets.</a:t>
            </a:r>
          </a:p>
          <a:p>
            <a:pPr>
              <a:spcAft>
                <a:spcPts val="1200"/>
              </a:spcAft>
            </a:pPr>
            <a:r>
              <a:rPr sz="1700" b="1">
                <a:solidFill>
                  <a:srgbClr val="1F3B5C"/>
                </a:solidFill>
                <a:latin typeface="Calibri"/>
              </a:rPr>
              <a:t>• Single-modality limits:  </a:t>
            </a:r>
            <a:r>
              <a:rPr sz="1600">
                <a:solidFill>
                  <a:srgbClr val="444444"/>
                </a:solidFill>
                <a:latin typeface="Calibri"/>
              </a:rPr>
              <a:t>Individual signals alone are insufficient - combining signals improves performance.</a:t>
            </a:r>
          </a:p>
        </p:txBody>
      </p:sp>
      <p:sp>
        <p:nvSpPr>
          <p:cNvPr id="7" name="TextBox 6"/>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Proposed Work</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Hybrid drowsiness detection system</a:t>
            </a:r>
          </a:p>
        </p:txBody>
      </p:sp>
      <p:sp>
        <p:nvSpPr>
          <p:cNvPr id="6" name="Rectangle 5"/>
          <p:cNvSpPr/>
          <p:nvPr/>
        </p:nvSpPr>
        <p:spPr>
          <a:xfrm>
            <a:off x="54864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82296" cy="41148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4892040" cy="457200"/>
          </a:xfrm>
          <a:prstGeom prst="rect">
            <a:avLst/>
          </a:prstGeom>
          <a:noFill/>
        </p:spPr>
        <p:txBody>
          <a:bodyPr wrap="square" lIns="0" rIns="0" tIns="0" bIns="0">
            <a:spAutoFit/>
          </a:bodyPr>
          <a:lstStyle/>
          <a:p>
            <a:pPr algn="l"/>
            <a:r>
              <a:rPr sz="1800" b="1" i="0">
                <a:solidFill>
                  <a:srgbClr val="1F3B5C"/>
                </a:solidFill>
                <a:latin typeface="Calibri"/>
              </a:rPr>
              <a:t>Core Idea</a:t>
            </a:r>
          </a:p>
        </p:txBody>
      </p:sp>
      <p:sp>
        <p:nvSpPr>
          <p:cNvPr id="9" name="TextBox 8"/>
          <p:cNvSpPr txBox="1"/>
          <p:nvPr/>
        </p:nvSpPr>
        <p:spPr>
          <a:xfrm>
            <a:off x="822960" y="2331720"/>
            <a:ext cx="4892040" cy="3337560"/>
          </a:xfrm>
          <a:prstGeom prst="rect">
            <a:avLst/>
          </a:prstGeom>
          <a:noFill/>
        </p:spPr>
        <p:txBody>
          <a:bodyPr wrap="square" lIns="0" rIns="0" tIns="0" bIns="0">
            <a:spAutoFit/>
          </a:bodyPr>
          <a:lstStyle/>
          <a:p>
            <a:pPr algn="l"/>
            <a:r>
              <a:rPr sz="1300" b="0" i="0">
                <a:solidFill>
                  <a:srgbClr val="444444"/>
                </a:solidFill>
                <a:latin typeface="Calibri"/>
              </a:rPr>
              <a:t>Develop a hybrid driver drowsiness detection system that combines physiological signals (e.g., ECG / PPG) with behavioral features (eye closure, yawning) to overcome individual limitations and improve detection accuracy.
• Leverage best accuracy of physiological measures
• Reduce intrusiveness via wearable / non-contact sensors
• Choose classifier by dataset size &amp; real-time needs</a:t>
            </a:r>
          </a:p>
        </p:txBody>
      </p:sp>
      <p:sp>
        <p:nvSpPr>
          <p:cNvPr id="10" name="Rectangle 9"/>
          <p:cNvSpPr/>
          <p:nvPr/>
        </p:nvSpPr>
        <p:spPr>
          <a:xfrm>
            <a:off x="621792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37360"/>
            <a:ext cx="82296" cy="4114800"/>
          </a:xfrm>
          <a:prstGeom prst="rect">
            <a:avLst/>
          </a:prstGeom>
          <a:solidFill>
            <a:srgbClr val="179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20"/>
            <a:ext cx="4892040" cy="457200"/>
          </a:xfrm>
          <a:prstGeom prst="rect">
            <a:avLst/>
          </a:prstGeom>
          <a:noFill/>
        </p:spPr>
        <p:txBody>
          <a:bodyPr wrap="square" lIns="0" rIns="0" tIns="0" bIns="0">
            <a:spAutoFit/>
          </a:bodyPr>
          <a:lstStyle/>
          <a:p>
            <a:pPr algn="l"/>
            <a:r>
              <a:rPr sz="1800" b="1" i="0">
                <a:solidFill>
                  <a:srgbClr val="1F3B5C"/>
                </a:solidFill>
                <a:latin typeface="Calibri"/>
              </a:rPr>
              <a:t>Methodology Steps</a:t>
            </a:r>
          </a:p>
        </p:txBody>
      </p:sp>
      <p:sp>
        <p:nvSpPr>
          <p:cNvPr id="13" name="TextBox 12"/>
          <p:cNvSpPr txBox="1"/>
          <p:nvPr/>
        </p:nvSpPr>
        <p:spPr>
          <a:xfrm>
            <a:off x="6492240" y="2331720"/>
            <a:ext cx="4892040" cy="3337560"/>
          </a:xfrm>
          <a:prstGeom prst="rect">
            <a:avLst/>
          </a:prstGeom>
          <a:noFill/>
        </p:spPr>
        <p:txBody>
          <a:bodyPr wrap="square" lIns="0" rIns="0" tIns="0" bIns="0">
            <a:spAutoFit/>
          </a:bodyPr>
          <a:lstStyle/>
          <a:p>
            <a:pPr algn="l"/>
            <a:r>
              <a:rPr sz="1300" b="0" i="0">
                <a:solidFill>
                  <a:srgbClr val="444444"/>
                </a:solidFill>
                <a:latin typeface="Calibri"/>
              </a:rPr>
              <a:t>1. Data acquisition (sensors / camera)
2. Preprocessing &amp; feature extraction
3. Feature selection (statistical tests)
4. Classification (SVM / CNN)
5. Alert generation (multi-stage)
6. Performance evaluation (accuracy, sensitivity, specificity)
7. Comparison with survey benchmarks</a:t>
            </a:r>
          </a:p>
        </p:txBody>
      </p:sp>
      <p:sp>
        <p:nvSpPr>
          <p:cNvPr id="14" name="TextBox 13"/>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Expected Outcomes &amp; Plan of Work</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Roadmap for the project</a:t>
            </a:r>
          </a:p>
        </p:txBody>
      </p:sp>
      <p:sp>
        <p:nvSpPr>
          <p:cNvPr id="6" name="Rectangle 5"/>
          <p:cNvSpPr/>
          <p:nvPr/>
        </p:nvSpPr>
        <p:spPr>
          <a:xfrm>
            <a:off x="54864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82296" cy="4114800"/>
          </a:xfrm>
          <a:prstGeom prst="rect">
            <a:avLst/>
          </a:prstGeom>
          <a:solidFill>
            <a:srgbClr val="F0A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4892040" cy="457200"/>
          </a:xfrm>
          <a:prstGeom prst="rect">
            <a:avLst/>
          </a:prstGeom>
          <a:noFill/>
        </p:spPr>
        <p:txBody>
          <a:bodyPr wrap="square" lIns="0" rIns="0" tIns="0" bIns="0">
            <a:spAutoFit/>
          </a:bodyPr>
          <a:lstStyle/>
          <a:p>
            <a:pPr algn="l"/>
            <a:r>
              <a:rPr sz="1800" b="1" i="0">
                <a:solidFill>
                  <a:srgbClr val="1F3B5C"/>
                </a:solidFill>
                <a:latin typeface="Calibri"/>
              </a:rPr>
              <a:t>Expected Outcomes</a:t>
            </a:r>
          </a:p>
        </p:txBody>
      </p:sp>
      <p:sp>
        <p:nvSpPr>
          <p:cNvPr id="9" name="TextBox 8"/>
          <p:cNvSpPr txBox="1"/>
          <p:nvPr/>
        </p:nvSpPr>
        <p:spPr>
          <a:xfrm>
            <a:off x="822960" y="2331720"/>
            <a:ext cx="4892040" cy="3337560"/>
          </a:xfrm>
          <a:prstGeom prst="rect">
            <a:avLst/>
          </a:prstGeom>
          <a:noFill/>
        </p:spPr>
        <p:txBody>
          <a:bodyPr wrap="square" lIns="0" rIns="0" tIns="0" bIns="0">
            <a:spAutoFit/>
          </a:bodyPr>
          <a:lstStyle/>
          <a:p>
            <a:pPr algn="l"/>
            <a:r>
              <a:rPr sz="1300" b="0" i="0">
                <a:solidFill>
                  <a:srgbClr val="444444"/>
                </a:solidFill>
                <a:latin typeface="Calibri"/>
              </a:rPr>
              <a:t>• An accurate hybrid drowsiness detection system
• Real-time alerting for driver safety
• Comparison and analysis vs. existing techniques (behavioral / vehicular / physiological)
• Insights on optimal classifier selection
• A documented framework for future work</a:t>
            </a:r>
          </a:p>
        </p:txBody>
      </p:sp>
      <p:sp>
        <p:nvSpPr>
          <p:cNvPr id="10" name="Rectangle 9"/>
          <p:cNvSpPr/>
          <p:nvPr/>
        </p:nvSpPr>
        <p:spPr>
          <a:xfrm>
            <a:off x="621792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37360"/>
            <a:ext cx="82296" cy="4114800"/>
          </a:xfrm>
          <a:prstGeom prst="rect">
            <a:avLst/>
          </a:prstGeom>
          <a:solidFill>
            <a:srgbClr val="179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20"/>
            <a:ext cx="4892040" cy="457200"/>
          </a:xfrm>
          <a:prstGeom prst="rect">
            <a:avLst/>
          </a:prstGeom>
          <a:noFill/>
        </p:spPr>
        <p:txBody>
          <a:bodyPr wrap="square" lIns="0" rIns="0" tIns="0" bIns="0">
            <a:spAutoFit/>
          </a:bodyPr>
          <a:lstStyle/>
          <a:p>
            <a:pPr algn="l"/>
            <a:r>
              <a:rPr sz="1800" b="1" i="0">
                <a:solidFill>
                  <a:srgbClr val="1F3B5C"/>
                </a:solidFill>
                <a:latin typeface="Calibri"/>
              </a:rPr>
              <a:t>Plan of Work</a:t>
            </a:r>
          </a:p>
        </p:txBody>
      </p:sp>
      <p:sp>
        <p:nvSpPr>
          <p:cNvPr id="13" name="TextBox 12"/>
          <p:cNvSpPr txBox="1"/>
          <p:nvPr/>
        </p:nvSpPr>
        <p:spPr>
          <a:xfrm>
            <a:off x="6492240" y="2331720"/>
            <a:ext cx="4892040" cy="3337560"/>
          </a:xfrm>
          <a:prstGeom prst="rect">
            <a:avLst/>
          </a:prstGeom>
          <a:noFill/>
        </p:spPr>
        <p:txBody>
          <a:bodyPr wrap="square" lIns="0" rIns="0" tIns="0" bIns="0">
            <a:spAutoFit/>
          </a:bodyPr>
          <a:lstStyle/>
          <a:p>
            <a:pPr algn="l"/>
            <a:r>
              <a:rPr sz="1300" b="0" i="0">
                <a:solidFill>
                  <a:srgbClr val="444444"/>
                </a:solidFill>
                <a:latin typeface="Calibri"/>
              </a:rPr>
              <a:t>Phase 1: Literature review &amp; gap analysis (Review 1)
Phase 2: System design &amp; dataset preparation (Review 2)
Phase 3: Implementation of hybrid detection
Phase 4: Testing &amp; performance evaluation
Phase 5: Results, analysis &amp; documentation
Phase 6: Final thesis / report submission</a:t>
            </a:r>
          </a:p>
        </p:txBody>
      </p:sp>
      <p:sp>
        <p:nvSpPr>
          <p:cNvPr id="14" name="TextBox 13"/>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1094415" cy="640080"/>
          </a:xfrm>
          <a:prstGeom prst="rect">
            <a:avLst/>
          </a:prstGeom>
          <a:noFill/>
        </p:spPr>
        <p:txBody>
          <a:bodyPr wrap="square" lIns="0" rIns="0" tIns="0" bIns="0">
            <a:spAutoFit/>
          </a:bodyPr>
          <a:lstStyle/>
          <a:p>
            <a:pPr algn="l"/>
            <a:r>
              <a:rPr sz="2800" b="1" i="0">
                <a:solidFill>
                  <a:srgbClr val="FFFFFF"/>
                </a:solidFill>
                <a:latin typeface="Calibri"/>
              </a:rPr>
              <a:t>Conclusion &amp; References</a:t>
            </a:r>
          </a:p>
        </p:txBody>
      </p:sp>
      <p:sp>
        <p:nvSpPr>
          <p:cNvPr id="5" name="TextBox 4"/>
          <p:cNvSpPr txBox="1"/>
          <p:nvPr/>
        </p:nvSpPr>
        <p:spPr>
          <a:xfrm>
            <a:off x="548640" y="1143000"/>
            <a:ext cx="11094415" cy="365760"/>
          </a:xfrm>
          <a:prstGeom prst="rect">
            <a:avLst/>
          </a:prstGeom>
          <a:noFill/>
        </p:spPr>
        <p:txBody>
          <a:bodyPr wrap="square" lIns="0" rIns="0" tIns="0" bIns="0">
            <a:spAutoFit/>
          </a:bodyPr>
          <a:lstStyle/>
          <a:p>
            <a:pPr algn="l"/>
            <a:r>
              <a:rPr sz="1500" b="1" i="0">
                <a:solidFill>
                  <a:srgbClr val="2E86DE"/>
                </a:solidFill>
                <a:latin typeface="Calibri"/>
              </a:rPr>
              <a:t>Summary of the first review</a:t>
            </a:r>
          </a:p>
        </p:txBody>
      </p:sp>
      <p:sp>
        <p:nvSpPr>
          <p:cNvPr id="6" name="Rectangle 5"/>
          <p:cNvSpPr/>
          <p:nvPr/>
        </p:nvSpPr>
        <p:spPr>
          <a:xfrm>
            <a:off x="54864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82296" cy="41148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4892040" cy="457200"/>
          </a:xfrm>
          <a:prstGeom prst="rect">
            <a:avLst/>
          </a:prstGeom>
          <a:noFill/>
        </p:spPr>
        <p:txBody>
          <a:bodyPr wrap="square" lIns="0" rIns="0" tIns="0" bIns="0">
            <a:spAutoFit/>
          </a:bodyPr>
          <a:lstStyle/>
          <a:p>
            <a:pPr algn="l"/>
            <a:r>
              <a:rPr sz="1800" b="1" i="0">
                <a:solidFill>
                  <a:srgbClr val="1F3B5C"/>
                </a:solidFill>
                <a:latin typeface="Calibri"/>
              </a:rPr>
              <a:t>Conclusion</a:t>
            </a:r>
          </a:p>
        </p:txBody>
      </p:sp>
      <p:sp>
        <p:nvSpPr>
          <p:cNvPr id="9" name="TextBox 8"/>
          <p:cNvSpPr txBox="1"/>
          <p:nvPr/>
        </p:nvSpPr>
        <p:spPr>
          <a:xfrm>
            <a:off x="822960" y="2331720"/>
            <a:ext cx="4892040" cy="3337560"/>
          </a:xfrm>
          <a:prstGeom prst="rect">
            <a:avLst/>
          </a:prstGeom>
          <a:noFill/>
        </p:spPr>
        <p:txBody>
          <a:bodyPr wrap="square" lIns="0" rIns="0" tIns="0" bIns="0">
            <a:spAutoFit/>
          </a:bodyPr>
          <a:lstStyle/>
          <a:p>
            <a:pPr algn="l"/>
            <a:r>
              <a:rPr sz="1300" b="0" i="0">
                <a:solidFill>
                  <a:srgbClr val="444444"/>
                </a:solidFill>
                <a:latin typeface="Calibri"/>
              </a:rPr>
              <a:t>The survey classifies drowsiness detection into behavioral, vehicular and physiological techniques. Physiological methods are most accurate, hybrids improve results, and classifier choice (SVM / HMM / CNN) must match the task. This review forms the basis for a proposed hybrid detection system for improved driver safety.</a:t>
            </a:r>
          </a:p>
        </p:txBody>
      </p:sp>
      <p:sp>
        <p:nvSpPr>
          <p:cNvPr id="10" name="Rectangle 9"/>
          <p:cNvSpPr/>
          <p:nvPr/>
        </p:nvSpPr>
        <p:spPr>
          <a:xfrm>
            <a:off x="6217920" y="1737360"/>
            <a:ext cx="5394960" cy="4114800"/>
          </a:xfrm>
          <a:prstGeom prst="rect">
            <a:avLst/>
          </a:prstGeom>
          <a:solidFill>
            <a:srgbClr val="EC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37360"/>
            <a:ext cx="82296" cy="4114800"/>
          </a:xfrm>
          <a:prstGeom prst="rect">
            <a:avLst/>
          </a:prstGeom>
          <a:solidFill>
            <a:srgbClr val="179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20"/>
            <a:ext cx="4892040" cy="457200"/>
          </a:xfrm>
          <a:prstGeom prst="rect">
            <a:avLst/>
          </a:prstGeom>
          <a:noFill/>
        </p:spPr>
        <p:txBody>
          <a:bodyPr wrap="square" lIns="0" rIns="0" tIns="0" bIns="0">
            <a:spAutoFit/>
          </a:bodyPr>
          <a:lstStyle/>
          <a:p>
            <a:pPr algn="l"/>
            <a:r>
              <a:rPr sz="1800" b="1" i="0">
                <a:solidFill>
                  <a:srgbClr val="1F3B5C"/>
                </a:solidFill>
                <a:latin typeface="Calibri"/>
              </a:rPr>
              <a:t>References</a:t>
            </a:r>
          </a:p>
        </p:txBody>
      </p:sp>
      <p:sp>
        <p:nvSpPr>
          <p:cNvPr id="13" name="TextBox 12"/>
          <p:cNvSpPr txBox="1"/>
          <p:nvPr/>
        </p:nvSpPr>
        <p:spPr>
          <a:xfrm>
            <a:off x="6492240" y="2331720"/>
            <a:ext cx="4892040" cy="3337560"/>
          </a:xfrm>
          <a:prstGeom prst="rect">
            <a:avLst/>
          </a:prstGeom>
          <a:noFill/>
        </p:spPr>
        <p:txBody>
          <a:bodyPr wrap="square" lIns="0" rIns="0" tIns="0" bIns="0">
            <a:spAutoFit/>
          </a:bodyPr>
          <a:lstStyle/>
          <a:p>
            <a:pPr algn="l"/>
            <a:r>
              <a:rPr sz="1300" b="0" i="0">
                <a:solidFill>
                  <a:srgbClr val="444444"/>
                </a:solidFill>
                <a:latin typeface="Calibri"/>
              </a:rPr>
              <a:t>1. M. Ramzan et al., "A Survey on State-of-the-Art Drowsiness Detection Techniques," IEEE Access, vol. 7, pp. 61904-61919, 2019. DOI: 10.1109/ACCESS.2019.2914373
2. 41 primary studies surveyed across behavioral, vehicular and physiological techniques (IEEE Xplore, ACM, Springer, Google Scholar, IJCS, MDPI).</a:t>
            </a:r>
          </a:p>
        </p:txBody>
      </p:sp>
      <p:sp>
        <p:nvSpPr>
          <p:cNvPr id="14" name="TextBox 13"/>
          <p:cNvSpPr txBox="1"/>
          <p:nvPr/>
        </p:nvSpPr>
        <p:spPr>
          <a:xfrm>
            <a:off x="548640" y="6217920"/>
            <a:ext cx="11064240" cy="365760"/>
          </a:xfrm>
          <a:prstGeom prst="rect">
            <a:avLst/>
          </a:prstGeom>
          <a:noFill/>
        </p:spPr>
        <p:txBody>
          <a:bodyPr wrap="square" lIns="0" rIns="0" tIns="0" bIns="0">
            <a:spAutoFit/>
          </a:bodyPr>
          <a:lstStyle/>
          <a:p>
            <a:pPr algn="ctr"/>
            <a:r>
              <a:rPr sz="2000" b="1" i="0">
                <a:solidFill>
                  <a:srgbClr val="1F3B5C"/>
                </a:solidFill>
                <a:latin typeface="Calibri"/>
              </a:rPr>
              <a:t>Thank you</a:t>
            </a:r>
          </a:p>
        </p:txBody>
      </p:sp>
      <p:sp>
        <p:nvSpPr>
          <p:cNvPr id="15" name="TextBox 14"/>
          <p:cNvSpPr txBox="1"/>
          <p:nvPr/>
        </p:nvSpPr>
        <p:spPr>
          <a:xfrm>
            <a:off x="11094415" y="6400800"/>
            <a:ext cx="914400" cy="274320"/>
          </a:xfrm>
          <a:prstGeom prst="rect">
            <a:avLst/>
          </a:prstGeom>
          <a:noFill/>
        </p:spPr>
        <p:txBody>
          <a:bodyPr wrap="square" lIns="0" rIns="0" tIns="0" bIns="0">
            <a:spAutoFit/>
          </a:bodyPr>
          <a:lstStyle/>
          <a:p>
            <a:pPr algn="r"/>
            <a:r>
              <a:rPr sz="1200" b="0" i="0">
                <a:solidFill>
                  <a:srgbClr val="444444"/>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