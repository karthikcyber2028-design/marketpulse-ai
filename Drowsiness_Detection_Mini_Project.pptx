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0520"/>
            <a:ext cx="12191695" cy="2697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1F3B5C"/>
                </a:solidFill>
                <a:latin typeface="Calibri"/>
              </a:rPr>
              <a:t>Drowsiness Detection for Driver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E86DE"/>
                </a:solidFill>
                <a:latin typeface="Calibri"/>
              </a:rPr>
              <a:t>Mini Project - First Review (Review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  <a:latin typeface="Calibri"/>
              </a:rPr>
              <a:t>Based on: "A Survey on State-of-the-Art Drowsiness Detection Techniques" - IEEE Access,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F3B5C"/>
                </a:solidFill>
                <a:latin typeface="Calibri"/>
              </a:rPr>
              <a:t>[Student Name]  |  Guide: [Guide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174736" y="1499616"/>
            <a:ext cx="3675888" cy="27614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5661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429768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44444"/>
                </a:solidFill>
                <a:latin typeface="Calibri"/>
              </a:rPr>
              <a:t>Drowsy driver behind the wheel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223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F3B5C"/>
                </a:solidFill>
                <a:latin typeface="Calibri"/>
              </a:rPr>
              <a:t>• Road safety  </a:t>
            </a:r>
            <a:r>
              <a:rPr sz="1800">
                <a:solidFill>
                  <a:srgbClr val="444444"/>
                </a:solidFill>
                <a:latin typeface="Calibri"/>
              </a:rPr>
              <a:t>Drowsy driving causes ~100,000 accidents &amp; 1,500+ deaths per year (NHTSA).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F3B5C"/>
                </a:solidFill>
                <a:latin typeface="Calibri"/>
              </a:rPr>
              <a:t>• Causes  </a:t>
            </a:r>
            <a:r>
              <a:rPr sz="1800">
                <a:solidFill>
                  <a:srgbClr val="444444"/>
                </a:solidFill>
                <a:latin typeface="Calibri"/>
              </a:rPr>
              <a:t>Lack of sleep, long journeys, alcohol, stress.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F3B5C"/>
                </a:solidFill>
                <a:latin typeface="Calibri"/>
              </a:rPr>
              <a:t>• Need  </a:t>
            </a:r>
            <a:r>
              <a:rPr sz="1800">
                <a:solidFill>
                  <a:srgbClr val="444444"/>
                </a:solidFill>
                <a:latin typeface="Calibri"/>
              </a:rPr>
              <a:t>Detect drowsiness early and alert the driver before an accident.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Detection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11880" cy="475488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82296" cy="47548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" y="1773936"/>
            <a:ext cx="3264408" cy="23042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ha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15468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297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F3B5C"/>
                </a:solidFill>
                <a:latin typeface="Calibri"/>
              </a:rPr>
              <a:t>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Camera + vision
Eye closure, yawning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554480"/>
            <a:ext cx="3611880" cy="475488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554480"/>
            <a:ext cx="82296" cy="475488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73936"/>
            <a:ext cx="3264408" cy="23042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eh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1828800"/>
            <a:ext cx="315468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81144" y="4297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F3B5C"/>
                </a:solidFill>
                <a:latin typeface="Calibri"/>
              </a:rPr>
              <a:t>Vehicular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48463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Car sensors
Steering, lanes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8" y="1554480"/>
            <a:ext cx="3611880" cy="475488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554480"/>
            <a:ext cx="82296" cy="475488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4" y="1773936"/>
            <a:ext cx="3264408" cy="23042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y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1828800"/>
            <a:ext cx="3154680" cy="2194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5048" y="4297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F3B5C"/>
                </a:solidFill>
                <a:latin typeface="Calibri"/>
              </a:rPr>
              <a:t>Physiological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84632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Body signals
EEG / ECG / HR - most accurate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408176"/>
            <a:ext cx="10625328" cy="3127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po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44444"/>
                </a:solidFill>
                <a:latin typeface="Calibri"/>
              </a:rPr>
              <a:t>Monitoring equipment used for signal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B5C"/>
                </a:solidFill>
                <a:latin typeface="Calibri"/>
              </a:rPr>
              <a:t>• Hybrid approach  </a:t>
            </a:r>
            <a:r>
              <a:rPr sz="1700">
                <a:solidFill>
                  <a:srgbClr val="444444"/>
                </a:solidFill>
                <a:latin typeface="Calibri"/>
              </a:rPr>
              <a:t>Combine physiological + behavioral signals for better accuracy.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3B5C"/>
                </a:solidFill>
                <a:latin typeface="Calibri"/>
              </a:rPr>
              <a:t>• Real-time alert  </a:t>
            </a:r>
            <a:r>
              <a:rPr sz="1700">
                <a:solidFill>
                  <a:srgbClr val="444444"/>
                </a:solidFill>
                <a:latin typeface="Calibri"/>
              </a:rPr>
              <a:t>Detect drowsiness and warn the driver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773936"/>
            <a:ext cx="3767328" cy="25786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d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6576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89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44444"/>
                </a:solidFill>
                <a:latin typeface="Calibri"/>
              </a:rPr>
              <a:t>Accident caused by fatigue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2240280" cy="402336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82296" cy="402336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3B5C"/>
                </a:solidFill>
                <a:latin typeface="Calibri"/>
              </a:rPr>
              <a:t>Most accurate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1920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Physiological signals (EEG / ECG) give the most stable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67728" y="1828800"/>
            <a:ext cx="2240280" cy="402336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1828800"/>
            <a:ext cx="82296" cy="4023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21031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3B5C"/>
                </a:solidFill>
                <a:latin typeface="Calibri"/>
              </a:rPr>
              <a:t>Hybrid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743200"/>
            <a:ext cx="1920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Combining signals (ECG + EEG) improves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3456" y="1828800"/>
            <a:ext cx="2240280" cy="402336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456" y="1828800"/>
            <a:ext cx="82296" cy="402336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21031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3B5C"/>
                </a:solidFill>
                <a:latin typeface="Calibri"/>
              </a:rPr>
              <a:t>Best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743200"/>
            <a:ext cx="1920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SVM = easy &amp; common; HMM = lowest error; CNN = best for images.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F3B5C"/>
                </a:solidFill>
                <a:latin typeface="Calibri"/>
              </a:rPr>
              <a:t>No single method is perfect - a hybrid system is the way forward for driver safety.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F3B5C"/>
                </a:solidFill>
                <a:latin typeface="Calibri"/>
              </a:rPr>
              <a:t>• Done  </a:t>
            </a:r>
            <a:r>
              <a:rPr sz="1700">
                <a:solidFill>
                  <a:srgbClr val="444444"/>
                </a:solidFill>
                <a:latin typeface="Calibri"/>
              </a:rPr>
              <a:t>Studied 41 papers on drowsiness detection techniques.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B5C"/>
                </a:solidFill>
                <a:latin typeface="Calibri"/>
              </a:rPr>
              <a:t>• Plan  </a:t>
            </a:r>
            <a:r>
              <a:rPr sz="1700">
                <a:solidFill>
                  <a:srgbClr val="444444"/>
                </a:solidFill>
                <a:latin typeface="Calibri"/>
              </a:rPr>
              <a:t>Build a hybrid (physiological + behavioral) system.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3B5C"/>
                </a:solidFill>
                <a:latin typeface="Calibri"/>
              </a:rPr>
              <a:t>• Goal  </a:t>
            </a:r>
            <a:r>
              <a:rPr sz="1700">
                <a:solidFill>
                  <a:srgbClr val="444444"/>
                </a:solidFill>
                <a:latin typeface="Calibri"/>
              </a:rPr>
              <a:t>Accurate, real-time alerting for safer driving.</a:t>
            </a:r>
          </a:p>
        </p:txBody>
      </p:sp>
      <p:pic>
        <p:nvPicPr>
          <p:cNvPr id="6" name="Picture 5" descr="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737360"/>
            <a:ext cx="338328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2788920"/>
            <a:ext cx="3383280" cy="23774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301752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Next steps:
1. Design &amp; collect data
2. Implement hybrid detection
3. Test &amp; evaluate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F3B5C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